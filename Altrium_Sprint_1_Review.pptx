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b593cd27184233" /><Relationship Type="http://schemas.openxmlformats.org/officeDocument/2006/relationships/extended-properties" Target="/docProps/app.xml" Id="Ra41e64a1ab0f47de" /><Relationship Type="http://schemas.openxmlformats.org/officeDocument/2006/relationships/officeDocument" Target="/ppt/presentation.xml" Id="R1b85029767e8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0408ed828e4df3"/>
  </p:sldMasterIdLst>
  <p:notesMasterIdLst>
    <p:notesMasterId xmlns:r="http://schemas.openxmlformats.org/officeDocument/2006/relationships" r:id="Re59b02ef30664127"/>
  </p:notesMasterIdLst>
  <p:sldIdLst>
    <p:sldId xmlns:r="http://schemas.openxmlformats.org/officeDocument/2006/relationships" id="256" r:id="R06f546ffd3a14aa1"/>
    <p:sldId xmlns:r="http://schemas.openxmlformats.org/officeDocument/2006/relationships" id="257" r:id="R8c6601fc61c84e03"/>
    <p:sldId xmlns:r="http://schemas.openxmlformats.org/officeDocument/2006/relationships" id="258" r:id="Ra90efaca096e4f83"/>
    <p:sldId xmlns:r="http://schemas.openxmlformats.org/officeDocument/2006/relationships" id="259" r:id="R04b194f6f9fa4552"/>
    <p:sldId xmlns:r="http://schemas.openxmlformats.org/officeDocument/2006/relationships" id="260" r:id="R750439b027cc4b88"/>
    <p:sldId xmlns:r="http://schemas.openxmlformats.org/officeDocument/2006/relationships" id="261" r:id="Re16f9c9c974042a5"/>
    <p:sldId xmlns:r="http://schemas.openxmlformats.org/officeDocument/2006/relationships" id="262" r:id="Rd9d1b96080cd4f63"/>
    <p:sldId xmlns:r="http://schemas.openxmlformats.org/officeDocument/2006/relationships" id="263" r:id="Rc394df823a0248b3"/>
    <p:sldId xmlns:r="http://schemas.openxmlformats.org/officeDocument/2006/relationships" id="264" r:id="R8d79688ab8d541b4"/>
    <p:sldId xmlns:r="http://schemas.openxmlformats.org/officeDocument/2006/relationships" id="265" r:id="Rb6b52b7621f34fd6"/>
    <p:sldId xmlns:r="http://schemas.openxmlformats.org/officeDocument/2006/relationships" id="266" r:id="R8ae6418b89044d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61f99513ad4564" /><Relationship Type="http://schemas.openxmlformats.org/officeDocument/2006/relationships/slideMaster" Target="/ppt/slideMasters/slideMaster1.xml" Id="Rac0408ed828e4df3" /><Relationship Type="http://schemas.openxmlformats.org/officeDocument/2006/relationships/notesMaster" Target="/ppt/notesMasters/notesMaster1.xml" Id="Re59b02ef30664127" /><Relationship Type="http://schemas.openxmlformats.org/officeDocument/2006/relationships/presProps" Target="/ppt/presProps.xml" Id="Rca3460a13f804dcf" /><Relationship Type="http://schemas.openxmlformats.org/officeDocument/2006/relationships/tableStyles" Target="/ppt/tableStyles.xml" Id="Rf6f9ddd98f0d44f7" /><Relationship Type="http://schemas.openxmlformats.org/officeDocument/2006/relationships/slide" Target="/ppt/slides/slide1.xml" Id="R06f546ffd3a14aa1" /><Relationship Type="http://schemas.openxmlformats.org/officeDocument/2006/relationships/slide" Target="/ppt/slides/slide2.xml" Id="R8c6601fc61c84e03" /><Relationship Type="http://schemas.openxmlformats.org/officeDocument/2006/relationships/slide" Target="/ppt/slides/slide3.xml" Id="Ra90efaca096e4f83" /><Relationship Type="http://schemas.openxmlformats.org/officeDocument/2006/relationships/slide" Target="/ppt/slides/slide4.xml" Id="R04b194f6f9fa4552" /><Relationship Type="http://schemas.openxmlformats.org/officeDocument/2006/relationships/slide" Target="/ppt/slides/slide5.xml" Id="R750439b027cc4b88" /><Relationship Type="http://schemas.openxmlformats.org/officeDocument/2006/relationships/slide" Target="/ppt/slides/slide6.xml" Id="Re16f9c9c974042a5" /><Relationship Type="http://schemas.openxmlformats.org/officeDocument/2006/relationships/slide" Target="/ppt/slides/slide7.xml" Id="Rd9d1b96080cd4f63" /><Relationship Type="http://schemas.openxmlformats.org/officeDocument/2006/relationships/slide" Target="/ppt/slides/slide8.xml" Id="Rc394df823a0248b3" /><Relationship Type="http://schemas.openxmlformats.org/officeDocument/2006/relationships/slide" Target="/ppt/slides/slide9.xml" Id="R8d79688ab8d541b4" /><Relationship Type="http://schemas.openxmlformats.org/officeDocument/2006/relationships/slide" Target="/ppt/slides/slide10.xml" Id="Rb6b52b7621f34fd6" /><Relationship Type="http://schemas.openxmlformats.org/officeDocument/2006/relationships/slide" Target="/ppt/slides/slide11.xml" Id="R8ae6418b8904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8908d9d4ac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e2c174c2b41e6" /><Relationship Type="http://schemas.openxmlformats.org/officeDocument/2006/relationships/notesMaster" Target="/ppt/notesMasters/notesMaster1.xml" Id="Rebc014dde4dc4c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cfcec80e9b4e79" /><Relationship Type="http://schemas.openxmlformats.org/officeDocument/2006/relationships/notesMaster" Target="/ppt/notesMasters/notesMaster1.xml" Id="Ra19ebfd2a18245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d2faba2fcc48cf" /><Relationship Type="http://schemas.openxmlformats.org/officeDocument/2006/relationships/notesMaster" Target="/ppt/notesMasters/notesMaster1.xml" Id="R02dd6b10257f46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8c99a56db5418b" /><Relationship Type="http://schemas.openxmlformats.org/officeDocument/2006/relationships/notesMaster" Target="/ppt/notesMasters/notesMaster1.xml" Id="R2ca23764947c40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802db82f54366" /><Relationship Type="http://schemas.openxmlformats.org/officeDocument/2006/relationships/notesMaster" Target="/ppt/notesMasters/notesMaster1.xml" Id="Rfe119967c634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0c72184a6a4e5f" /><Relationship Type="http://schemas.openxmlformats.org/officeDocument/2006/relationships/notesMaster" Target="/ppt/notesMasters/notesMaster1.xml" Id="R510e2afef30d4a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4bb4770faf40e9" /><Relationship Type="http://schemas.openxmlformats.org/officeDocument/2006/relationships/notesMaster" Target="/ppt/notesMasters/notesMaster1.xml" Id="Rb82ddf15aa5241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63592bc5404469" /><Relationship Type="http://schemas.openxmlformats.org/officeDocument/2006/relationships/notesMaster" Target="/ppt/notesMasters/notesMaster1.xml" Id="R0ce7366a2f9d47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fea97a85fb4827" /><Relationship Type="http://schemas.openxmlformats.org/officeDocument/2006/relationships/notesMaster" Target="/ppt/notesMasters/notesMaster1.xml" Id="R8a9e326a4d6c4e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9ea67fb1f4a66" /><Relationship Type="http://schemas.openxmlformats.org/officeDocument/2006/relationships/notesMaster" Target="/ppt/notesMasters/notesMaster1.xml" Id="R6d39a342e0e443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f45ea594074d68" /><Relationship Type="http://schemas.openxmlformats.org/officeDocument/2006/relationships/notesMaster" Target="/ppt/notesMasters/notesMaster1.xml" Id="Rf908419725794e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team, mention that roles were rotated during the sprint, then state the goal in one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each item enables the next stage. Highlight PB09 as the feature used for the remaining diagrams and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supervisor is the primary actor. The manager is downstream and only receives a task after successful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happy path first, then point out the validation loop. Saving a draft never advances the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demonstration follows this slide. Demo: supervisor login → open task → inspect evidence → save draft → submit → manager task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valid case during the demo. The other three cases demonstrate access control, form validation and a measurable non-functional expectation.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reflection in first person. Focus on one contribution, one lesson and one specific improvement for Sprint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reflection in first person. Focus on one contribution, one lesson and one specific improvement for Sprint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reflection in first person. Focus on one contribution, one lesson and one specific improvement for Sprint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reflection in first person. Focus on one contribution, one lesson and one specific improvement for Sprint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only if time permits or if the Product Owner asks how work was distributed.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final 4.20.docx (team Sprint 1 report)</a:t>
            </a:r>
          </a:p>
          <a:p xmlns:a="http://schemas.openxmlformats.org/drawingml/2006/main">
            <a:r>
              <a:t>- Altrium Sprint 1 application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70a765f9a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ffec5c7f114629" /><Relationship Type="http://schemas.openxmlformats.org/officeDocument/2006/relationships/slideLayout" Target="/ppt/slideLayouts/slideLayout1.xml" Id="Re626673223aa43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26673223aa43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94ec2475b4ad4" /><Relationship Type="http://schemas.openxmlformats.org/officeDocument/2006/relationships/notesSlide" Target="/ppt/notesSlides/notesSlide1.xml" Id="R1eeaf0b787004d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1c098a31642b8" /><Relationship Type="http://schemas.openxmlformats.org/officeDocument/2006/relationships/notesSlide" Target="/ppt/notesSlides/notesSlide2.xml" Id="R0a62d0ef3d9340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98140dc774898" /><Relationship Type="http://schemas.openxmlformats.org/officeDocument/2006/relationships/notesSlide" Target="/ppt/notesSlides/notesSlide3.xml" Id="Red04a1e1dfd94d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23b54aa58425c" /><Relationship Type="http://schemas.openxmlformats.org/officeDocument/2006/relationships/notesSlide" Target="/ppt/notesSlides/notesSlide4.xml" Id="Rff4f7b76469949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5d44d0d943d7" /><Relationship Type="http://schemas.openxmlformats.org/officeDocument/2006/relationships/notesSlide" Target="/ppt/notesSlides/notesSlide5.xml" Id="R020deec7fdf84c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ec80c3a4c495c" /><Relationship Type="http://schemas.openxmlformats.org/officeDocument/2006/relationships/notesSlide" Target="/ppt/notesSlides/notesSlide6.xml" Id="R1f8af91b4a6b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8b6938fea4540" /><Relationship Type="http://schemas.openxmlformats.org/officeDocument/2006/relationships/notesSlide" Target="/ppt/notesSlides/notesSlide7.xml" Id="R8001c9e2b4974f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ca44edc9241e3" /><Relationship Type="http://schemas.openxmlformats.org/officeDocument/2006/relationships/notesSlide" Target="/ppt/notesSlides/notesSlide8.xml" Id="Rd0bbd9f691fe49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fbd88907449df" /><Relationship Type="http://schemas.openxmlformats.org/officeDocument/2006/relationships/notesSlide" Target="/ppt/notesSlides/notesSlide9.xml" Id="R5083279d3ee64d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e711e4b4d41d7" /><Relationship Type="http://schemas.openxmlformats.org/officeDocument/2006/relationships/notesSlide" Target="/ppt/notesSlides/notesSlide10.xml" Id="R209101eb5aca4e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32185c07b464b" /><Relationship Type="http://schemas.openxmlformats.org/officeDocument/2006/relationships/notesSlide" Target="/ppt/notesSlides/notesSlide11.xml" Id="R5ed6d89cdcd84e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1F5A17-9D5E-4EF3-816F-DF6EA3C5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FA22116-18F5-4C09-8497-47A933E6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TEAM &amp; SPRINT DIRECTION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2BBD22-BD58-439E-B8EA-26E4C33D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A complete, governed review journey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5D2233D-ABBD-4E74-AC67-23B97C5B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Sprint 1 established the working foundation for Altrium’s performance-review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E5154-1EB7-42AB-BB89-4E47211A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956724B-5D30-4CBA-905C-75AA6197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CA3D93-12C6-4688-A37C-A0100E20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01</a:t>
            </a:r>
          </a:p>
        </p:txBody>
      </p:sp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17C3E7E-F0DD-4326-BADF-6316BB2E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AGILE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DEBCD-F3C0-4DAA-876E-2061F4D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D35"/>
          </a:solidFill>
          <a:ln xmlns:a="http://schemas.openxmlformats.org/drawingml/2006/main" w="0">
            <a:solidFill>
              <a:srgbClr val="151D35"/>
            </a:solidFill>
            <a:prstDash val="solid"/>
          </a:ln>
        </p:spPr>
      </p:sp>
      <p:sp>
        <p:nvSpPr>
          <p:cNvPr id="10" name="initials">
            <a:extLst xmlns:a="http://schemas.openxmlformats.org/drawingml/2006/main">
              <a:ext uri="{FF2B5EF4-FFF2-40B4-BE49-F238E27FC236}">
                <a16:creationId xmlns:a16="http://schemas.microsoft.com/office/drawing/2014/main" id="{B742413F-98AD-4F9A-B660-CD477B9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11" name="member-name">
            <a:extLst xmlns:a="http://schemas.openxmlformats.org/drawingml/2006/main">
              <a:ext uri="{FF2B5EF4-FFF2-40B4-BE49-F238E27FC236}">
                <a16:creationId xmlns:a16="http://schemas.microsoft.com/office/drawing/2014/main" id="{64F25EEB-C8FF-4A7F-8D50-89EEF790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Abdullah Aroos</a:t>
            </a:r>
          </a:p>
        </p:txBody>
      </p:sp>
      <p:sp>
        <p:nvSpPr>
          <p:cNvPr id="12" name="member-roles">
            <a:extLst xmlns:a="http://schemas.openxmlformats.org/drawingml/2006/main">
              <a:ext uri="{FF2B5EF4-FFF2-40B4-BE49-F238E27FC236}">
                <a16:creationId xmlns:a16="http://schemas.microsoft.com/office/drawing/2014/main" id="{4BB226F2-2548-48B9-B01C-F8776065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574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47F5"/>
                </a:solidFill>
              </a:defRPr>
            </a:pPr>
            <a:r>
              <a:rPr sz="1125" b="1">
                <a:solidFill>
                  <a:srgbClr val="5747F5"/>
                </a:solidFill>
              </a:rPr>
              <a:t>Scrum Master  →  Developer</a:t>
            </a:r>
          </a:p>
        </p:txBody>
      </p:sp>
      <p:sp>
        <p:nvSpPr>
          <p:cNvPr id="13" name="member-contribution">
            <a:extLst xmlns:a="http://schemas.openxmlformats.org/drawingml/2006/main">
              <a:ext uri="{FF2B5EF4-FFF2-40B4-BE49-F238E27FC236}">
                <a16:creationId xmlns:a16="http://schemas.microsoft.com/office/drawing/2014/main" id="{F30C91C2-ABDE-401A-814A-ECEEE551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907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Backlog coordination, meeting records, GitHub setup, UI completion and system handover.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65644-737F-47C0-AADB-089B07F6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88F2D-FF53-4D01-ACB0-3852BB9F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D35"/>
          </a:solidFill>
          <a:ln xmlns:a="http://schemas.openxmlformats.org/drawingml/2006/main" w="0">
            <a:solidFill>
              <a:srgbClr val="151D35"/>
            </a:solidFill>
            <a:prstDash val="solid"/>
          </a:ln>
        </p:spPr>
      </p:sp>
      <p:sp>
        <p:nvSpPr>
          <p:cNvPr id="16" name="initials">
            <a:extLst xmlns:a="http://schemas.openxmlformats.org/drawingml/2006/main">
              <a:ext uri="{FF2B5EF4-FFF2-40B4-BE49-F238E27FC236}">
                <a16:creationId xmlns:a16="http://schemas.microsoft.com/office/drawing/2014/main" id="{662B2F80-3778-445A-AC99-0959756B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17" name="member-name">
            <a:extLst xmlns:a="http://schemas.openxmlformats.org/drawingml/2006/main">
              <a:ext uri="{FF2B5EF4-FFF2-40B4-BE49-F238E27FC236}">
                <a16:creationId xmlns:a16="http://schemas.microsoft.com/office/drawing/2014/main" id="{CE142C40-EC41-4769-B334-EA6CDC01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05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Abdur Rahman</a:t>
            </a:r>
          </a:p>
        </p:txBody>
      </p:sp>
      <p:sp>
        <p:nvSpPr>
          <p:cNvPr id="18" name="member-roles">
            <a:extLst xmlns:a="http://schemas.openxmlformats.org/drawingml/2006/main">
              <a:ext uri="{FF2B5EF4-FFF2-40B4-BE49-F238E27FC236}">
                <a16:creationId xmlns:a16="http://schemas.microsoft.com/office/drawing/2014/main" id="{748F00D0-4C54-4F34-97DF-C9E072BA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813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47F5"/>
                </a:solidFill>
              </a:defRPr>
            </a:pPr>
            <a:r>
              <a:rPr sz="1125" b="1">
                <a:solidFill>
                  <a:srgbClr val="5747F5"/>
                </a:solidFill>
              </a:rPr>
              <a:t>Quality Assurance  →  Business Analyst</a:t>
            </a:r>
          </a:p>
        </p:txBody>
      </p:sp>
      <p:sp>
        <p:nvSpPr>
          <p:cNvPr id="19" name="member-contribution">
            <a:extLst xmlns:a="http://schemas.openxmlformats.org/drawingml/2006/main">
              <a:ext uri="{FF2B5EF4-FFF2-40B4-BE49-F238E27FC236}">
                <a16:creationId xmlns:a16="http://schemas.microsoft.com/office/drawing/2014/main" id="{5C19F52C-2251-474A-8084-BDF7AC4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Manual testing, issue review and activity diagrams aligned to the implemented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32088-3DCB-4840-A3AB-8DB8788E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528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D7D18-537A-49A4-955D-8ABF9566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D35"/>
          </a:solidFill>
          <a:ln xmlns:a="http://schemas.openxmlformats.org/drawingml/2006/main" w="0">
            <a:solidFill>
              <a:srgbClr val="151D35"/>
            </a:solidFill>
            <a:prstDash val="solid"/>
          </a:ln>
        </p:spPr>
      </p:sp>
      <p:sp>
        <p:nvSpPr>
          <p:cNvPr id="22" name="initials">
            <a:extLst xmlns:a="http://schemas.openxmlformats.org/drawingml/2006/main">
              <a:ext uri="{FF2B5EF4-FFF2-40B4-BE49-F238E27FC236}">
                <a16:creationId xmlns:a16="http://schemas.microsoft.com/office/drawing/2014/main" id="{9F596DD9-8246-4D15-A91A-2AE95715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MA</a:t>
            </a:r>
          </a:p>
        </p:txBody>
      </p:sp>
      <p:sp>
        <p:nvSpPr>
          <p:cNvPr id="23" name="member-name">
            <a:extLst xmlns:a="http://schemas.openxmlformats.org/drawingml/2006/main">
              <a:ext uri="{FF2B5EF4-FFF2-40B4-BE49-F238E27FC236}">
                <a16:creationId xmlns:a16="http://schemas.microsoft.com/office/drawing/2014/main" id="{81164278-4D92-486C-B48F-172FB3B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Muhammed Akram</a:t>
            </a:r>
          </a:p>
        </p:txBody>
      </p:sp>
      <p:sp>
        <p:nvSpPr>
          <p:cNvPr id="24" name="member-roles">
            <a:extLst xmlns:a="http://schemas.openxmlformats.org/drawingml/2006/main">
              <a:ext uri="{FF2B5EF4-FFF2-40B4-BE49-F238E27FC236}">
                <a16:creationId xmlns:a16="http://schemas.microsoft.com/office/drawing/2014/main" id="{3AE8ED32-E490-46A4-9874-F7847305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47F5"/>
                </a:solidFill>
              </a:defRPr>
            </a:pPr>
            <a:r>
              <a:rPr sz="1125" b="1">
                <a:solidFill>
                  <a:srgbClr val="5747F5"/>
                </a:solidFill>
              </a:rPr>
              <a:t>Business Analyst  →  Quality Assurance</a:t>
            </a:r>
          </a:p>
        </p:txBody>
      </p:sp>
      <p:sp>
        <p:nvSpPr>
          <p:cNvPr id="25" name="member-contribution">
            <a:extLst xmlns:a="http://schemas.openxmlformats.org/drawingml/2006/main">
              <a:ext uri="{FF2B5EF4-FFF2-40B4-BE49-F238E27FC236}">
                <a16:creationId xmlns:a16="http://schemas.microsoft.com/office/drawing/2014/main" id="{4E49FBC0-23A1-4ACC-866B-BA32D573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Requirements, user stories, use-case modelling and consistency checks across Sprint 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9DF02-4AA4-4696-B395-7D06CCE9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C8707A-39E5-4C2E-A467-55E71D0F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D35"/>
          </a:solidFill>
          <a:ln xmlns:a="http://schemas.openxmlformats.org/drawingml/2006/main" w="0">
            <a:solidFill>
              <a:srgbClr val="151D35"/>
            </a:solidFill>
            <a:prstDash val="solid"/>
          </a:ln>
        </p:spPr>
      </p:sp>
      <p:sp>
        <p:nvSpPr>
          <p:cNvPr id="28" name="initials">
            <a:extLst xmlns:a="http://schemas.openxmlformats.org/drawingml/2006/main">
              <a:ext uri="{FF2B5EF4-FFF2-40B4-BE49-F238E27FC236}">
                <a16:creationId xmlns:a16="http://schemas.microsoft.com/office/drawing/2014/main" id="{1AAEED75-6969-493A-A3ED-4F9EAC53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SA</a:t>
            </a:r>
          </a:p>
        </p:txBody>
      </p:sp>
      <p:sp>
        <p:nvSpPr>
          <p:cNvPr id="29" name="member-name">
            <a:extLst xmlns:a="http://schemas.openxmlformats.org/drawingml/2006/main">
              <a:ext uri="{FF2B5EF4-FFF2-40B4-BE49-F238E27FC236}">
                <a16:creationId xmlns:a16="http://schemas.microsoft.com/office/drawing/2014/main" id="{C5A1A4B8-E7DF-46EA-9813-D95D3EF1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Sajadh Ahmed</a:t>
            </a:r>
          </a:p>
        </p:txBody>
      </p:sp>
      <p:sp>
        <p:nvSpPr>
          <p:cNvPr id="30" name="member-roles">
            <a:extLst xmlns:a="http://schemas.openxmlformats.org/drawingml/2006/main">
              <a:ext uri="{FF2B5EF4-FFF2-40B4-BE49-F238E27FC236}">
                <a16:creationId xmlns:a16="http://schemas.microsoft.com/office/drawing/2014/main" id="{AA77097F-F1DF-4C9F-9FF6-F05B833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29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47F5"/>
                </a:solidFill>
              </a:defRPr>
            </a:pPr>
            <a:r>
              <a:rPr sz="1125" b="1">
                <a:solidFill>
                  <a:srgbClr val="5747F5"/>
                </a:solidFill>
              </a:rPr>
              <a:t>Lead Developer</a:t>
            </a:r>
          </a:p>
        </p:txBody>
      </p:sp>
      <p:sp>
        <p:nvSpPr>
          <p:cNvPr id="31" name="member-contribution">
            <a:extLst xmlns:a="http://schemas.openxmlformats.org/drawingml/2006/main">
              <a:ext uri="{FF2B5EF4-FFF2-40B4-BE49-F238E27FC236}">
                <a16:creationId xmlns:a16="http://schemas.microsoft.com/office/drawing/2014/main" id="{608731B0-1389-4168-BBB7-48A8AF18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624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Flask architecture, database design, RBAC and end-to-end workflow integration.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CA0850-574B-4ECC-BB0F-615FAF2D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33" name="sprint-goal">
            <a:extLst xmlns:a="http://schemas.openxmlformats.org/drawingml/2006/main">
              <a:ext uri="{FF2B5EF4-FFF2-40B4-BE49-F238E27FC236}">
                <a16:creationId xmlns:a16="http://schemas.microsoft.com/office/drawing/2014/main" id="{0AE4B2F0-61AA-48EF-B150-D37B132C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5918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1D35"/>
          </a:solidFill>
          <a:ln xmlns:a="http://schemas.openxmlformats.org/drawingml/2006/main" w="9525">
            <a:solidFill>
              <a:srgbClr val="151D35"/>
            </a:solidFill>
            <a:prstDash val="solid"/>
          </a:ln>
        </p:spPr>
      </p:sp>
      <p:sp>
        <p:nvSpPr>
          <p:cNvPr id="3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DEC73C5-A4B0-4A07-906F-D4E668E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5AF8"/>
                </a:solidFill>
              </a:defRPr>
            </a:pPr>
            <a:r>
              <a:rPr sz="900" b="1">
                <a:solidFill>
                  <a:srgbClr val="7A5AF8"/>
                </a:solidFill>
              </a:rPr>
              <a:t>SPRINT GOAL</a:t>
            </a:r>
          </a:p>
        </p:txBody>
      </p:sp>
      <p:sp>
        <p:nvSpPr>
          <p:cNvPr id="35" name="goal-copy">
            <a:extLst xmlns:a="http://schemas.openxmlformats.org/drawingml/2006/main">
              <a:ext uri="{FF2B5EF4-FFF2-40B4-BE49-F238E27FC236}">
                <a16:creationId xmlns:a16="http://schemas.microsoft.com/office/drawing/2014/main" id="{1B573A4F-DECC-49CA-93C1-A8091471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Deliver a secure, role-based performance review system that guides every review from cycle setup and employee reflection through peer input, supervisor evaluation, manager approval and final acknowledgement.</a:t>
            </a:r>
          </a:p>
        </p:txBody>
      </p:sp>
    </p:spTree>
    <p:extLst>
      <p:ext uri="{BB962C8B-B14F-4D97-AF65-F5344CB8AC3E}">
        <p14:creationId xmlns:p14="http://schemas.microsoft.com/office/powerpoint/2010/main" val="781299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17A757-9FC6-478A-B01A-F8C98B00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C96EF70-0CF6-4CA5-BECB-130474FB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ORDERED SPRINT 1 BACKLOG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1DCF75-9950-4E8C-88F4-98397D9F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The backlog builds the review journey in dependency order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8BBA768-5127-4FD8-BDF4-48BC5CB9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Must-have workflow stages come first; visibility and task guidance support the completed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FCB6D-9B90-4603-9182-B4E66E75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4532B06-42A9-471E-96C3-2AC8A83E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64BD7D7-3496-457C-8DB7-58D6204F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02</a:t>
            </a:r>
          </a:p>
        </p:txBody>
      </p:sp>
      <p:sp>
        <p:nvSpPr>
          <p:cNvPr id="8" name="backlog-id">
            <a:extLst xmlns:a="http://schemas.openxmlformats.org/drawingml/2006/main">
              <a:ext uri="{FF2B5EF4-FFF2-40B4-BE49-F238E27FC236}">
                <a16:creationId xmlns:a16="http://schemas.microsoft.com/office/drawing/2014/main" id="{5E118D93-5EBB-4F56-A14C-A236475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67775-EDDE-4634-BC02-800F62AA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21CAB653-0EAA-4041-A548-1D8E86AA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02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Login / Logout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F8895-F9AD-45AC-AAE7-5B83BC4C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12" name="backlog-id">
            <a:extLst xmlns:a="http://schemas.openxmlformats.org/drawingml/2006/main">
              <a:ext uri="{FF2B5EF4-FFF2-40B4-BE49-F238E27FC236}">
                <a16:creationId xmlns:a16="http://schemas.microsoft.com/office/drawing/2014/main" id="{059A7224-A0D8-4FEF-8FEE-DA40D91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CC1B9-01F1-452E-8499-BAAAE258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19526171-B1F8-4796-88DD-EAE4786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57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Create Employee Performance 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F4979-E0A9-4BA3-B5CB-7F7516AF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16" name="backlog-id">
            <a:extLst xmlns:a="http://schemas.openxmlformats.org/drawingml/2006/main">
              <a:ext uri="{FF2B5EF4-FFF2-40B4-BE49-F238E27FC236}">
                <a16:creationId xmlns:a16="http://schemas.microsoft.com/office/drawing/2014/main" id="{610B8CDB-45E3-459C-AB6F-1967B1F1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3DBF0-ED89-40DA-8114-62C183DF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DFEB92F9-ED6D-44E9-8747-C5CA8395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146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Manage Responsibilities, KPIs &amp; Goals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010DC-3A66-432F-AE54-DD21CFCB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20" name="backlog-id">
            <a:extLst xmlns:a="http://schemas.openxmlformats.org/drawingml/2006/main">
              <a:ext uri="{FF2B5EF4-FFF2-40B4-BE49-F238E27FC236}">
                <a16:creationId xmlns:a16="http://schemas.microsoft.com/office/drawing/2014/main" id="{82B60443-1C13-4941-AC2B-6C5DDEC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0214C-356D-4A35-8054-57A672D5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7AF76AE4-F06C-4300-BD68-AFE08BEC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Manage Performance Review Cycles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1CD01-FEFA-4E0F-A679-8118D8FF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24" name="backlog-id">
            <a:extLst xmlns:a="http://schemas.openxmlformats.org/drawingml/2006/main">
              <a:ext uri="{FF2B5EF4-FFF2-40B4-BE49-F238E27FC236}">
                <a16:creationId xmlns:a16="http://schemas.microsoft.com/office/drawing/2014/main" id="{35834544-5E83-46B4-850E-B7D7B92C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FFF5C0-6158-4FB6-926D-C53FD3E0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0A509C6C-2D59-4D40-AAC4-6F9A969C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29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Complete Self-Assessment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1E038-2801-42C8-88B1-2BDF542D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28" name="backlog-id">
            <a:extLst xmlns:a="http://schemas.openxmlformats.org/drawingml/2006/main">
              <a:ext uri="{FF2B5EF4-FFF2-40B4-BE49-F238E27FC236}">
                <a16:creationId xmlns:a16="http://schemas.microsoft.com/office/drawing/2014/main" id="{0AFEE1CC-0934-4AA5-87B9-B0788AC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0B8E60-D812-4BB0-8AB9-334A64E9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9C0F0D18-8829-4D7A-A080-C9C93113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863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Assign Peer Reviewers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A9F31C-6A2C-495D-91AB-CC2F077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32" name="backlog-id">
            <a:extLst xmlns:a="http://schemas.openxmlformats.org/drawingml/2006/main">
              <a:ext uri="{FF2B5EF4-FFF2-40B4-BE49-F238E27FC236}">
                <a16:creationId xmlns:a16="http://schemas.microsoft.com/office/drawing/2014/main" id="{7EDD4F10-F1AF-4132-A69F-CD6E935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E36801-5710-4204-A33A-172B7B99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39CD0FB7-F812-44FA-AD40-626060A7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02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Provide Peer Feedback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355181-5ECE-4B4C-B919-28458DB1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36" name="backlog-id">
            <a:extLst xmlns:a="http://schemas.openxmlformats.org/drawingml/2006/main">
              <a:ext uri="{FF2B5EF4-FFF2-40B4-BE49-F238E27FC236}">
                <a16:creationId xmlns:a16="http://schemas.microsoft.com/office/drawing/2014/main" id="{247DAA67-E9A8-451E-A877-6CC65382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6697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PB09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4F8DC3-1298-41A2-9C10-3ED9EA96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66975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74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5C245E31-0A1C-4659-98BE-697243C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Complete Supervisor Evaluation</a:t>
            </a:r>
          </a:p>
        </p:txBody>
      </p:sp>
      <p:sp>
        <p:nvSpPr>
          <p:cNvPr id="39" name="selected-feature">
            <a:extLst xmlns:a="http://schemas.openxmlformats.org/drawingml/2006/main">
              <a:ext uri="{FF2B5EF4-FFF2-40B4-BE49-F238E27FC236}">
                <a16:creationId xmlns:a16="http://schemas.microsoft.com/office/drawing/2014/main" id="{17E310AE-251E-4166-B1BD-280BE130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747F5"/>
                </a:solidFill>
              </a:defRPr>
            </a:pPr>
            <a:r>
              <a:rPr sz="750" b="1">
                <a:solidFill>
                  <a:srgbClr val="5747F5"/>
                </a:solidFill>
              </a:rPr>
              <a:t>SELECTED CORE FEATURE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C61811-334F-4305-9FC7-E58B3B4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41" name="backlog-id">
            <a:extLst xmlns:a="http://schemas.openxmlformats.org/drawingml/2006/main">
              <a:ext uri="{FF2B5EF4-FFF2-40B4-BE49-F238E27FC236}">
                <a16:creationId xmlns:a16="http://schemas.microsoft.com/office/drawing/2014/main" id="{F999DF01-D9E1-440D-B2FE-CA0A1BE1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79365-BCD7-4BC2-B95C-90E2A192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7106B0A4-EE72-4D1B-A954-752232E7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146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Manager Approval / Revision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485793-C11F-4ACF-8BBD-B431A79B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45" name="backlog-id">
            <a:extLst xmlns:a="http://schemas.openxmlformats.org/drawingml/2006/main">
              <a:ext uri="{FF2B5EF4-FFF2-40B4-BE49-F238E27FC236}">
                <a16:creationId xmlns:a16="http://schemas.microsoft.com/office/drawing/2014/main" id="{49EF6505-608A-455A-A63E-46D765E2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PB18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0BE1B4-4E1D-4319-99F4-074ACCAA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6DE36E60-EA18-4124-8C2F-C2C16AA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719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Track Review Status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582A9E-C8B5-4E91-8AB5-F2D98D43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49" name="backlog-id">
            <a:extLst xmlns:a="http://schemas.openxmlformats.org/drawingml/2006/main">
              <a:ext uri="{FF2B5EF4-FFF2-40B4-BE49-F238E27FC236}">
                <a16:creationId xmlns:a16="http://schemas.microsoft.com/office/drawing/2014/main" id="{A5DB4C21-11B5-4F95-ABC7-B5404A8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747F5"/>
                </a:solidFill>
              </a:defRPr>
            </a:pPr>
            <a:r>
              <a:rPr sz="1050" b="1">
                <a:solidFill>
                  <a:srgbClr val="5747F5"/>
                </a:solidFill>
              </a:rPr>
              <a:t>PB19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CBBE65-8B2A-448E-8EA2-EB5F51F3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acklog-name">
            <a:extLst xmlns:a="http://schemas.openxmlformats.org/drawingml/2006/main">
              <a:ext uri="{FF2B5EF4-FFF2-40B4-BE49-F238E27FC236}">
                <a16:creationId xmlns:a16="http://schemas.microsoft.com/office/drawing/2014/main" id="{5383F825-8B8E-47F3-93CD-FC1C5ED2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29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</a:defRPr>
            </a:pPr>
            <a:r>
              <a:rPr sz="1350" b="0">
                <a:solidFill>
                  <a:srgbClr val="182230"/>
                </a:solidFill>
              </a:rPr>
              <a:t>View Assigned Tasks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3280B4-A5A0-4157-8A96-F3E7B0F1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4133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1EE1A6-1D68-409C-897B-DAD7F59E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AB7BCDA-1155-4FD1-B3DB-C050D8E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CORE FEATURE USE CASE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8A9158-F37E-4C74-BA93-7CE25E9A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One authorised supervisor turns scattered evidence into one evaluation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2E76D7E-6781-49D3-A34E-7C28A4F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PB09 — Complete Supervisor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2A9DF-44D5-4A19-9303-111D0701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1D847C2-0AD1-4FD1-BB89-A329A843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ADF6FB-CA06-4EED-97D6-4868A656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03</a:t>
            </a:r>
          </a:p>
        </p:txBody>
      </p:sp>
      <p:sp>
        <p:nvSpPr>
          <p:cNvPr id="8" name="supervisor-actor">
            <a:extLst xmlns:a="http://schemas.openxmlformats.org/drawingml/2006/main">
              <a:ext uri="{FF2B5EF4-FFF2-40B4-BE49-F238E27FC236}">
                <a16:creationId xmlns:a16="http://schemas.microsoft.com/office/drawing/2014/main" id="{FE9F9C9A-512F-43CB-BD94-7E0F4E3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3675"/>
            <a:ext cx="1428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151D35"/>
          </a:solidFill>
          <a:ln xmlns:a="http://schemas.openxmlformats.org/drawingml/2006/main" w="9525">
            <a:solidFill>
              <a:srgbClr val="151D35"/>
            </a:solidFill>
            <a:prstDash val="solid"/>
          </a:ln>
        </p:spPr>
      </p:sp>
      <p:sp>
        <p:nvSpPr>
          <p:cNvPr id="9" name="actor-label">
            <a:extLst xmlns:a="http://schemas.openxmlformats.org/drawingml/2006/main">
              <a:ext uri="{FF2B5EF4-FFF2-40B4-BE49-F238E27FC236}">
                <a16:creationId xmlns:a16="http://schemas.microsoft.com/office/drawing/2014/main" id="{41D817BA-C4A4-4E04-AF73-4D74D60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A5AF8"/>
                </a:solidFill>
              </a:defRPr>
            </a:pPr>
            <a:r>
              <a:rPr sz="975" b="1">
                <a:solidFill>
                  <a:srgbClr val="7A5AF8"/>
                </a:solidFill>
              </a:rPr>
              <a:t>SUPERVISOR</a:t>
            </a:r>
          </a:p>
        </p:txBody>
      </p:sp>
      <p:sp>
        <p:nvSpPr>
          <p:cNvPr id="10" name="actor-name">
            <a:extLst xmlns:a="http://schemas.openxmlformats.org/drawingml/2006/main">
              <a:ext uri="{FF2B5EF4-FFF2-40B4-BE49-F238E27FC236}">
                <a16:creationId xmlns:a16="http://schemas.microsoft.com/office/drawing/2014/main" id="{A0C6157F-E05A-48EF-A646-EB28E406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480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Assigned evaluator</a:t>
            </a:r>
          </a:p>
        </p:txBody>
      </p:sp>
      <p:sp>
        <p:nvSpPr>
          <p:cNvPr id="11" name="system-boundary">
            <a:extLst xmlns:a="http://schemas.openxmlformats.org/drawingml/2006/main">
              <a:ext uri="{FF2B5EF4-FFF2-40B4-BE49-F238E27FC236}">
                <a16:creationId xmlns:a16="http://schemas.microsoft.com/office/drawing/2014/main" id="{179EA0E9-BB05-4CE4-9A17-83DFA8CB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52600"/>
            <a:ext cx="6667500" cy="4133850"/>
          </a:xfrm>
          <a:prstGeom xmlns:a="http://schemas.openxmlformats.org/drawingml/2006/main" prst="roundRect">
            <a:avLst>
              <a:gd name="adj" fmla="val 368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1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201FD0-0A06-415B-9ADB-52EAED2B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ALTRIUM PERFORMANCE TRACKER</a:t>
            </a:r>
          </a:p>
        </p:txBody>
      </p:sp>
      <p:sp>
        <p:nvSpPr>
          <p:cNvPr id="13" name="main-use-case">
            <a:extLst xmlns:a="http://schemas.openxmlformats.org/drawingml/2006/main">
              <a:ext uri="{FF2B5EF4-FFF2-40B4-BE49-F238E27FC236}">
                <a16:creationId xmlns:a16="http://schemas.microsoft.com/office/drawing/2014/main" id="{56C39E46-CA4E-4A39-8D5A-84459CF0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0325"/>
            <a:ext cx="32194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5747F5"/>
          </a:solidFill>
          <a:ln xmlns:a="http://schemas.openxmlformats.org/drawingml/2006/main" w="9525">
            <a:solidFill>
              <a:srgbClr val="5747F5"/>
            </a:solidFill>
            <a:prstDash val="solid"/>
          </a:ln>
        </p:spPr>
      </p:sp>
      <p:sp>
        <p:nvSpPr>
          <p:cNvPr id="14" name="main-use-case-text">
            <a:extLst xmlns:a="http://schemas.openxmlformats.org/drawingml/2006/main">
              <a:ext uri="{FF2B5EF4-FFF2-40B4-BE49-F238E27FC236}">
                <a16:creationId xmlns:a16="http://schemas.microsoft.com/office/drawing/2014/main" id="{41D03C99-8838-42F6-AA1E-A17D842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33675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Complete Supervisor Evaluation</a:t>
            </a:r>
          </a:p>
        </p:txBody>
      </p:sp>
      <p:sp>
        <p:nvSpPr>
          <p:cNvPr id="15" name="view-evidence">
            <a:extLst xmlns:a="http://schemas.openxmlformats.org/drawingml/2006/main">
              <a:ext uri="{FF2B5EF4-FFF2-40B4-BE49-F238E27FC236}">
                <a16:creationId xmlns:a16="http://schemas.microsoft.com/office/drawing/2014/main" id="{BCB680BA-5C0C-4381-838C-CAA80ACF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6FB"/>
          </a:solidFill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16" name="uc1">
            <a:extLst xmlns:a="http://schemas.openxmlformats.org/drawingml/2006/main">
              <a:ext uri="{FF2B5EF4-FFF2-40B4-BE49-F238E27FC236}">
                <a16:creationId xmlns:a16="http://schemas.microsoft.com/office/drawing/2014/main" id="{20132B82-845C-44A5-8053-1D178A2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230"/>
                </a:solidFill>
              </a:defRPr>
            </a:pPr>
            <a:r>
              <a:rPr sz="1200" b="1">
                <a:solidFill>
                  <a:srgbClr val="182230"/>
                </a:solidFill>
              </a:rPr>
              <a:t>View consolidated evidence</a:t>
            </a:r>
          </a:p>
        </p:txBody>
      </p:sp>
      <p:sp>
        <p:nvSpPr>
          <p:cNvPr id="17" name="enter-judgement">
            <a:extLst xmlns:a="http://schemas.openxmlformats.org/drawingml/2006/main">
              <a:ext uri="{FF2B5EF4-FFF2-40B4-BE49-F238E27FC236}">
                <a16:creationId xmlns:a16="http://schemas.microsoft.com/office/drawing/2014/main" id="{58B4A7EB-4261-4D37-B839-1A0CC5CA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6FB"/>
          </a:solidFill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18" name="uc2">
            <a:extLst xmlns:a="http://schemas.openxmlformats.org/drawingml/2006/main">
              <a:ext uri="{FF2B5EF4-FFF2-40B4-BE49-F238E27FC236}">
                <a16:creationId xmlns:a16="http://schemas.microsoft.com/office/drawing/2014/main" id="{CF0D721D-9F8B-4BC3-BC14-C1AE5EBB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230"/>
                </a:solidFill>
              </a:defRPr>
            </a:pPr>
            <a:r>
              <a:rPr sz="1200" b="1">
                <a:solidFill>
                  <a:srgbClr val="182230"/>
                </a:solidFill>
              </a:rPr>
              <a:t>Enter ratings &amp; comments</a:t>
            </a:r>
          </a:p>
        </p:txBody>
      </p:sp>
      <p:sp>
        <p:nvSpPr>
          <p:cNvPr id="19" name="save-draft">
            <a:extLst xmlns:a="http://schemas.openxmlformats.org/drawingml/2006/main">
              <a:ext uri="{FF2B5EF4-FFF2-40B4-BE49-F238E27FC236}">
                <a16:creationId xmlns:a16="http://schemas.microsoft.com/office/drawing/2014/main" id="{14C9F1F6-6C02-46EE-83B1-80B89C6C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6FB"/>
          </a:solidFill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20" name="uc3">
            <a:extLst xmlns:a="http://schemas.openxmlformats.org/drawingml/2006/main">
              <a:ext uri="{FF2B5EF4-FFF2-40B4-BE49-F238E27FC236}">
                <a16:creationId xmlns:a16="http://schemas.microsoft.com/office/drawing/2014/main" id="{709D45E9-DC11-46AC-A647-6A1B5B70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00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230"/>
                </a:solidFill>
              </a:defRPr>
            </a:pPr>
            <a:r>
              <a:rPr sz="1200" b="1">
                <a:solidFill>
                  <a:srgbClr val="182230"/>
                </a:solidFill>
              </a:rPr>
              <a:t>Save evaluation draft</a:t>
            </a:r>
          </a:p>
        </p:txBody>
      </p:sp>
      <p:sp>
        <p:nvSpPr>
          <p:cNvPr id="21" name="submit-eval">
            <a:extLst xmlns:a="http://schemas.openxmlformats.org/drawingml/2006/main">
              <a:ext uri="{FF2B5EF4-FFF2-40B4-BE49-F238E27FC236}">
                <a16:creationId xmlns:a16="http://schemas.microsoft.com/office/drawing/2014/main" id="{C756EAD9-9DEF-48AC-902C-0B0F3F10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F6FB"/>
          </a:solidFill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22" name="uc4">
            <a:extLst xmlns:a="http://schemas.openxmlformats.org/drawingml/2006/main">
              <a:ext uri="{FF2B5EF4-FFF2-40B4-BE49-F238E27FC236}">
                <a16:creationId xmlns:a16="http://schemas.microsoft.com/office/drawing/2014/main" id="{E8C9BA93-B373-474C-8DE5-F57685A4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230"/>
                </a:solidFill>
              </a:defRPr>
            </a:pPr>
            <a:r>
              <a:rPr sz="1200" b="1">
                <a:solidFill>
                  <a:srgbClr val="182230"/>
                </a:solidFill>
              </a:rPr>
              <a:t>Submit evaluation</a:t>
            </a:r>
          </a:p>
        </p:txBody>
      </p:sp>
      <p:sp>
        <p:nvSpPr>
          <p:cNvPr id="23" name="validate">
            <a:extLst xmlns:a="http://schemas.openxmlformats.org/drawingml/2006/main">
              <a:ext uri="{FF2B5EF4-FFF2-40B4-BE49-F238E27FC236}">
                <a16:creationId xmlns:a16="http://schemas.microsoft.com/office/drawing/2014/main" id="{53167FDB-BA72-45D6-BFA8-DBBB706D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95825"/>
            <a:ext cx="2590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24" name="uc5">
            <a:extLst xmlns:a="http://schemas.openxmlformats.org/drawingml/2006/main">
              <a:ext uri="{FF2B5EF4-FFF2-40B4-BE49-F238E27FC236}">
                <a16:creationId xmlns:a16="http://schemas.microsoft.com/office/drawing/2014/main" id="{35A9B0EC-344F-4EAC-9381-F6AC6C34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910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B76A"/>
                </a:solidFill>
              </a:defRPr>
            </a:pPr>
            <a:r>
              <a:rPr sz="1125" b="1">
                <a:solidFill>
                  <a:srgbClr val="12B76A"/>
                </a:solidFill>
              </a:rPr>
              <a:t>Validate required details</a:t>
            </a:r>
          </a:p>
        </p:txBody>
      </p:sp>
      <p:sp>
        <p:nvSpPr>
          <p:cNvPr id="25" name="create-task">
            <a:extLst xmlns:a="http://schemas.openxmlformats.org/drawingml/2006/main">
              <a:ext uri="{FF2B5EF4-FFF2-40B4-BE49-F238E27FC236}">
                <a16:creationId xmlns:a16="http://schemas.microsoft.com/office/drawing/2014/main" id="{B609D146-4EAC-4A1E-AAAA-DFF2B103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95825"/>
            <a:ext cx="23050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26" name="uc6">
            <a:extLst xmlns:a="http://schemas.openxmlformats.org/drawingml/2006/main">
              <a:ext uri="{FF2B5EF4-FFF2-40B4-BE49-F238E27FC236}">
                <a16:creationId xmlns:a16="http://schemas.microsoft.com/office/drawing/2014/main" id="{D422DE0C-12EC-4288-B709-6C7CEE04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91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B76A"/>
                </a:solidFill>
              </a:defRPr>
            </a:pPr>
            <a:r>
              <a:rPr sz="1125" b="1">
                <a:solidFill>
                  <a:srgbClr val="12B76A"/>
                </a:solidFill>
              </a:rPr>
              <a:t>Create approval task</a:t>
            </a:r>
          </a:p>
        </p:txBody>
      </p: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000250" y="2990850"/>
            <a:ext cx="2362200" cy="2428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47F5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5" idx="2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43375" y="2667000"/>
            <a:ext cx="219075" cy="3238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667085"/>
            </a:solidFill>
            <a:prstDash val="dash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7" idx="2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581900" y="2667000"/>
            <a:ext cx="142875" cy="3238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667085"/>
            </a:solidFill>
            <a:prstDash val="dash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3" idx="1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143375" y="2990850"/>
            <a:ext cx="219075" cy="72390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667085"/>
            </a:solidFill>
            <a:prstDash val="dash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581900" y="2990850"/>
            <a:ext cx="142875" cy="72390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667085"/>
            </a:solidFill>
            <a:prstDash val="dash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21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6324600" y="3962400"/>
            <a:ext cx="209550" cy="971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67085"/>
            </a:solidFill>
            <a:prstDash val="dash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324600" y="49339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7085"/>
            </a:solidFill>
            <a:prstDash val="dash"/>
            <a:tailEnd type="arrow" w="sm" len="sm"/>
          </a:ln>
        </p:spPr>
      </p:cxnSp>
      <p:sp>
        <p:nvSpPr>
          <p:cNvPr id="34" name="manager-actor">
            <a:extLst xmlns:a="http://schemas.openxmlformats.org/drawingml/2006/main">
              <a:ext uri="{FF2B5EF4-FFF2-40B4-BE49-F238E27FC236}">
                <a16:creationId xmlns:a16="http://schemas.microsoft.com/office/drawing/2014/main" id="{C071C163-03EB-4C1A-93B0-E2120C4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72000"/>
            <a:ext cx="1619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1D35"/>
          </a:solidFill>
          <a:ln xmlns:a="http://schemas.openxmlformats.org/drawingml/2006/main" w="9525">
            <a:solidFill>
              <a:srgbClr val="151D35"/>
            </a:solidFill>
            <a:prstDash val="solid"/>
          </a:ln>
        </p:spPr>
      </p:sp>
      <p:sp>
        <p:nvSpPr>
          <p:cNvPr id="35" name="manager-label">
            <a:extLst xmlns:a="http://schemas.openxmlformats.org/drawingml/2006/main">
              <a:ext uri="{FF2B5EF4-FFF2-40B4-BE49-F238E27FC236}">
                <a16:creationId xmlns:a16="http://schemas.microsoft.com/office/drawing/2014/main" id="{1EC30AF1-F206-4EA2-BA7C-3B05E01B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05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A5AF8"/>
                </a:solidFill>
              </a:defRPr>
            </a:pPr>
            <a:r>
              <a:rPr sz="975" b="1">
                <a:solidFill>
                  <a:srgbClr val="7A5AF8"/>
                </a:solidFill>
              </a:rPr>
              <a:t>MANAGER</a:t>
            </a:r>
          </a:p>
        </p:txBody>
      </p:sp>
      <p:sp>
        <p:nvSpPr>
          <p:cNvPr id="36" name="manager-name">
            <a:extLst xmlns:a="http://schemas.openxmlformats.org/drawingml/2006/main">
              <a:ext uri="{FF2B5EF4-FFF2-40B4-BE49-F238E27FC236}">
                <a16:creationId xmlns:a16="http://schemas.microsoft.com/office/drawing/2014/main" id="{99083465-6B9E-4248-BA74-14F8A8A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815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Receives task</a:t>
            </a:r>
          </a:p>
        </p:txBody>
      </p: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915400" y="4933950"/>
            <a:ext cx="8572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B76A"/>
            </a:solidFill>
            <a:prstDash val="solid"/>
            <a:tailEnd type="arrow" w="med" len="med"/>
          </a:ln>
        </p:spPr>
      </p:cxnSp>
      <p:sp>
        <p:nvSpPr>
          <p:cNvPr id="38" name="include1">
            <a:extLst xmlns:a="http://schemas.openxmlformats.org/drawingml/2006/main">
              <a:ext uri="{FF2B5EF4-FFF2-40B4-BE49-F238E27FC236}">
                <a16:creationId xmlns:a16="http://schemas.microsoft.com/office/drawing/2014/main" id="{F0C12E4F-EB72-4F23-BA5C-B4AF1D83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«include»</a:t>
            </a:r>
          </a:p>
        </p:txBody>
      </p:sp>
      <p:sp>
        <p:nvSpPr>
          <p:cNvPr id="39" name="include2">
            <a:extLst xmlns:a="http://schemas.openxmlformats.org/drawingml/2006/main">
              <a:ext uri="{FF2B5EF4-FFF2-40B4-BE49-F238E27FC236}">
                <a16:creationId xmlns:a16="http://schemas.microsoft.com/office/drawing/2014/main" id="{0FB017AF-6EA6-403B-8CC2-15DA841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«include»</a:t>
            </a:r>
          </a:p>
        </p:txBody>
      </p:sp>
    </p:spTree>
    <p:extLst>
      <p:ext uri="{BB962C8B-B14F-4D97-AF65-F5344CB8AC3E}">
        <p14:creationId xmlns:p14="http://schemas.microsoft.com/office/powerpoint/2010/main" val="1369983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DF51EB-6A66-4FA9-A3CB-D662E18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FA1F980-870D-4BBB-B91E-F2FFCBEB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ACTIVITY 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FA7547-59F3-4F71-9F79-B3C811A8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Validation prevents incomplete evaluations from entering approval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A7604F7-6C00-4A38-B72E-71F7248D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Two swimlanes separate supervisor decisions from system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294FD-76BD-4C54-B5D2-C1B1CCA7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C2ABDAD-1759-4B66-B066-94C9C861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FA3CED8-88EB-49AA-B4E7-751EED51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04</a:t>
            </a:r>
          </a:p>
        </p:txBody>
      </p:sp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F2E1D02-A1FF-42AB-8AAC-A9476E9A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SUPERVISOR</a:t>
            </a:r>
          </a:p>
        </p:txBody>
      </p:sp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D8762FA-2D61-4F99-98BA-34128A47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240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ALTRIUM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58964-178C-4709-BC3E-12C136FF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190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8"/>
          </a:solidFill>
          <a:ln xmlns:a="http://schemas.openxmlformats.org/drawingml/2006/main" w="0">
            <a:solidFill>
              <a:srgbClr val="C9C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C7D65-26F8-4E12-B242-E747AB80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12" name="activity-node">
            <a:extLst xmlns:a="http://schemas.openxmlformats.org/drawingml/2006/main">
              <a:ext uri="{FF2B5EF4-FFF2-40B4-BE49-F238E27FC236}">
                <a16:creationId xmlns:a16="http://schemas.microsoft.com/office/drawing/2014/main" id="{159D1D57-3712-448C-A345-51690F1B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71700"/>
            <a:ext cx="32575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13" name="activity-text">
            <a:extLst xmlns:a="http://schemas.openxmlformats.org/drawingml/2006/main">
              <a:ext uri="{FF2B5EF4-FFF2-40B4-BE49-F238E27FC236}">
                <a16:creationId xmlns:a16="http://schemas.microsoft.com/office/drawing/2014/main" id="{265DB9D3-D081-4432-A4E6-85D9B63A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193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30"/>
                </a:solidFill>
              </a:defRPr>
            </a:pPr>
            <a:r>
              <a:rPr sz="1125" b="1">
                <a:solidFill>
                  <a:srgbClr val="182230"/>
                </a:solidFill>
              </a:rPr>
              <a:t>Open assigned evaluation task</a:t>
            </a:r>
          </a:p>
        </p:txBody>
      </p:sp>
      <p:sp>
        <p:nvSpPr>
          <p:cNvPr id="14" name="activity-node">
            <a:extLst xmlns:a="http://schemas.openxmlformats.org/drawingml/2006/main">
              <a:ext uri="{FF2B5EF4-FFF2-40B4-BE49-F238E27FC236}">
                <a16:creationId xmlns:a16="http://schemas.microsoft.com/office/drawing/2014/main" id="{F01116C5-97E0-4D02-B91E-2FA27D69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71700"/>
            <a:ext cx="3333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C8C2FF"/>
            </a:solidFill>
            <a:prstDash val="solid"/>
          </a:ln>
        </p:spPr>
      </p:sp>
      <p:sp>
        <p:nvSpPr>
          <p:cNvPr id="15" name="activity-text">
            <a:extLst xmlns:a="http://schemas.openxmlformats.org/drawingml/2006/main">
              <a:ext uri="{FF2B5EF4-FFF2-40B4-BE49-F238E27FC236}">
                <a16:creationId xmlns:a16="http://schemas.microsoft.com/office/drawing/2014/main" id="{8013C183-4C01-4AAB-9209-DC7913E6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1932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747F5"/>
                </a:solidFill>
              </a:defRPr>
            </a:pPr>
            <a:r>
              <a:rPr sz="1125" b="1">
                <a:solidFill>
                  <a:srgbClr val="5747F5"/>
                </a:solidFill>
              </a:rPr>
              <a:t>Verify role and employee assignment</a:t>
            </a:r>
          </a:p>
        </p:txBody>
      </p:sp>
      <p:sp>
        <p:nvSpPr>
          <p:cNvPr id="16" name="activity-node">
            <a:extLst xmlns:a="http://schemas.openxmlformats.org/drawingml/2006/main">
              <a:ext uri="{FF2B5EF4-FFF2-40B4-BE49-F238E27FC236}">
                <a16:creationId xmlns:a16="http://schemas.microsoft.com/office/drawing/2014/main" id="{895F433E-277B-4608-8632-6B8B0ABB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43225"/>
            <a:ext cx="333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17" name="activity-text">
            <a:extLst xmlns:a="http://schemas.openxmlformats.org/drawingml/2006/main">
              <a:ext uri="{FF2B5EF4-FFF2-40B4-BE49-F238E27FC236}">
                <a16:creationId xmlns:a16="http://schemas.microsoft.com/office/drawing/2014/main" id="{AB925EC4-AAE1-4197-91AD-B27C0FEB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9085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30"/>
                </a:solidFill>
              </a:defRPr>
            </a:pPr>
            <a:r>
              <a:rPr sz="1125" b="1">
                <a:solidFill>
                  <a:srgbClr val="182230"/>
                </a:solidFill>
              </a:rPr>
              <a:t>Load goals, self-assessment, evidence</a:t>
            </a:r>
          </a:p>
          <a:p xmlns:a="http://schemas.openxmlformats.org/drawingml/2006/main">
            <a:pPr algn="ctr">
              <a:defRPr sz="1125" b="1">
                <a:solidFill>
                  <a:srgbClr val="182230"/>
                </a:solidFill>
              </a:defRPr>
            </a:pPr>
            <a:r>
              <a:rPr sz="1125" b="1">
                <a:solidFill>
                  <a:srgbClr val="182230"/>
                </a:solidFill>
              </a:rPr>
              <a:t>and anonymous peer feedback</a:t>
            </a:r>
          </a:p>
        </p:txBody>
      </p:sp>
      <p:sp>
        <p:nvSpPr>
          <p:cNvPr id="18" name="activity-node">
            <a:extLst xmlns:a="http://schemas.openxmlformats.org/drawingml/2006/main">
              <a:ext uri="{FF2B5EF4-FFF2-40B4-BE49-F238E27FC236}">
                <a16:creationId xmlns:a16="http://schemas.microsoft.com/office/drawing/2014/main" id="{454CA2D5-B275-432C-8FDB-9526E1B5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43225"/>
            <a:ext cx="3257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19" name="activity-text">
            <a:extLst xmlns:a="http://schemas.openxmlformats.org/drawingml/2006/main">
              <a:ext uri="{FF2B5EF4-FFF2-40B4-BE49-F238E27FC236}">
                <a16:creationId xmlns:a16="http://schemas.microsoft.com/office/drawing/2014/main" id="{7E25E90B-1118-481E-ACBC-13C9773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30"/>
                </a:solidFill>
              </a:defRPr>
            </a:pPr>
            <a:r>
              <a:rPr sz="1125" b="1">
                <a:solidFill>
                  <a:srgbClr val="182230"/>
                </a:solidFill>
              </a:rPr>
              <a:t>Review evidence and enter ratings</a:t>
            </a:r>
          </a:p>
          <a:p xmlns:a="http://schemas.openxmlformats.org/drawingml/2006/main">
            <a:pPr algn="ctr">
              <a:defRPr sz="1125" b="1">
                <a:solidFill>
                  <a:srgbClr val="182230"/>
                </a:solidFill>
              </a:defRPr>
            </a:pPr>
            <a:r>
              <a:rPr sz="1125" b="1">
                <a:solidFill>
                  <a:srgbClr val="182230"/>
                </a:solidFill>
              </a:rPr>
              <a:t>and evaluation comments</a:t>
            </a:r>
          </a:p>
        </p:txBody>
      </p:sp>
      <p:sp>
        <p:nvSpPr>
          <p:cNvPr id="20" name="activity-node">
            <a:extLst xmlns:a="http://schemas.openxmlformats.org/drawingml/2006/main">
              <a:ext uri="{FF2B5EF4-FFF2-40B4-BE49-F238E27FC236}">
                <a16:creationId xmlns:a16="http://schemas.microsoft.com/office/drawing/2014/main" id="{9EF4B4D3-4158-4611-9AF9-9DDC2E7B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2575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C"/>
            </a:solidFill>
            <a:prstDash val="solid"/>
          </a:ln>
        </p:spPr>
      </p:sp>
      <p:sp>
        <p:nvSpPr>
          <p:cNvPr id="21" name="activity-text">
            <a:extLst xmlns:a="http://schemas.openxmlformats.org/drawingml/2006/main">
              <a:ext uri="{FF2B5EF4-FFF2-40B4-BE49-F238E27FC236}">
                <a16:creationId xmlns:a16="http://schemas.microsoft.com/office/drawing/2014/main" id="{1EC09ADE-0418-4C0E-BCC5-4D9ED8B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576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30"/>
                </a:solidFill>
              </a:defRPr>
            </a:pPr>
            <a:r>
              <a:rPr sz="1125" b="1">
                <a:solidFill>
                  <a:srgbClr val="182230"/>
                </a:solidFill>
              </a:rPr>
              <a:t>Save draft or select Submit</a:t>
            </a:r>
          </a:p>
        </p:txBody>
      </p:sp>
      <p:sp>
        <p:nvSpPr>
          <p:cNvPr id="22" name="activity-node">
            <a:extLst xmlns:a="http://schemas.openxmlformats.org/drawingml/2006/main">
              <a:ext uri="{FF2B5EF4-FFF2-40B4-BE49-F238E27FC236}">
                <a16:creationId xmlns:a16="http://schemas.microsoft.com/office/drawing/2014/main" id="{E1D22A16-7C02-4DA1-AD8A-28A11D48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3333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C8C2FF"/>
            </a:solidFill>
            <a:prstDash val="solid"/>
          </a:ln>
        </p:spPr>
      </p:sp>
      <p:sp>
        <p:nvSpPr>
          <p:cNvPr id="23" name="activity-text">
            <a:extLst xmlns:a="http://schemas.openxmlformats.org/drawingml/2006/main">
              <a:ext uri="{FF2B5EF4-FFF2-40B4-BE49-F238E27FC236}">
                <a16:creationId xmlns:a16="http://schemas.microsoft.com/office/drawing/2014/main" id="{BB7D5375-6C7A-4D1B-BB4E-2D042DEC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747F5"/>
                </a:solidFill>
              </a:defRPr>
            </a:pPr>
            <a:r>
              <a:rPr sz="1125" b="1">
                <a:solidFill>
                  <a:srgbClr val="5747F5"/>
                </a:solidFill>
              </a:rPr>
              <a:t>Validate all required fields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C3B97-3C73-4906-852F-955EB03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43425"/>
            <a:ext cx="6477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747F5"/>
            </a:solidFill>
            <a:prstDash val="solid"/>
          </a:ln>
        </p:spPr>
      </p:sp>
      <p:sp>
        <p:nvSpPr>
          <p:cNvPr id="25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B8D2281A-7CCC-4E0B-ADDB-51F3282F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958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Valid?</a:t>
            </a:r>
          </a:p>
        </p:txBody>
      </p:sp>
      <p:sp>
        <p:nvSpPr>
          <p:cNvPr id="26" name="activity-node">
            <a:extLst xmlns:a="http://schemas.openxmlformats.org/drawingml/2006/main">
              <a:ext uri="{FF2B5EF4-FFF2-40B4-BE49-F238E27FC236}">
                <a16:creationId xmlns:a16="http://schemas.microsoft.com/office/drawing/2014/main" id="{6DC3B700-A488-4DD5-B8C4-4037E9A1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32575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AFAFD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7" name="activity-text">
            <a:extLst xmlns:a="http://schemas.openxmlformats.org/drawingml/2006/main">
              <a:ext uri="{FF2B5EF4-FFF2-40B4-BE49-F238E27FC236}">
                <a16:creationId xmlns:a16="http://schemas.microsoft.com/office/drawing/2014/main" id="{CAC3C8E9-3906-4702-B76A-6E191EE1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339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2D20"/>
                </a:solidFill>
              </a:defRPr>
            </a:pPr>
            <a:r>
              <a:rPr sz="1125" b="1">
                <a:solidFill>
                  <a:srgbClr val="D92D20"/>
                </a:solidFill>
              </a:rPr>
              <a:t>Correct highlighted fields</a:t>
            </a:r>
          </a:p>
        </p:txBody>
      </p:sp>
      <p:sp>
        <p:nvSpPr>
          <p:cNvPr id="28" name="activity-node">
            <a:extLst xmlns:a="http://schemas.openxmlformats.org/drawingml/2006/main">
              <a:ext uri="{FF2B5EF4-FFF2-40B4-BE49-F238E27FC236}">
                <a16:creationId xmlns:a16="http://schemas.microsoft.com/office/drawing/2014/main" id="{B6AA5259-0BAB-4D1E-9929-FD4B7D6E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19725"/>
            <a:ext cx="3638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29" name="activity-text">
            <a:extLst xmlns:a="http://schemas.openxmlformats.org/drawingml/2006/main">
              <a:ext uri="{FF2B5EF4-FFF2-40B4-BE49-F238E27FC236}">
                <a16:creationId xmlns:a16="http://schemas.microsoft.com/office/drawing/2014/main" id="{DE1936D7-E28D-480D-A49D-E5239732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673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B76A"/>
                </a:solidFill>
              </a:defRPr>
            </a:pPr>
            <a:r>
              <a:rPr sz="1125" b="1">
                <a:solidFill>
                  <a:srgbClr val="12B76A"/>
                </a:solidFill>
              </a:rPr>
              <a:t>Lock evaluation • Update review status</a:t>
            </a:r>
          </a:p>
          <a:p xmlns:a="http://schemas.openxmlformats.org/drawingml/2006/main">
            <a:pPr algn="ctr">
              <a:defRPr sz="1125" b="1">
                <a:solidFill>
                  <a:srgbClr val="12B76A"/>
                </a:solidFill>
              </a:defRPr>
            </a:pPr>
            <a:r>
              <a:rPr sz="1125" b="1">
                <a:solidFill>
                  <a:srgbClr val="12B76A"/>
                </a:solidFill>
              </a:rPr>
              <a:t>Create manager task and notification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E3A6D7-BFB6-47F7-9715-0E81A45E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96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D35"/>
          </a:solidFill>
          <a:ln xmlns:a="http://schemas.openxmlformats.org/drawingml/2006/main" w="0">
            <a:solidFill>
              <a:srgbClr val="151D35"/>
            </a:solidFill>
            <a:prstDash val="solid"/>
          </a:ln>
        </p:spPr>
      </p:sp>
      <p:cxnSp>
        <p:nvCxnSpPr>
          <p:cNvPr id="74" name=""/>
          <p:cNvCxnSpPr>
            <a:stCxn xmlns:a="http://schemas.openxmlformats.org/drawingml/2006/main" id="11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095625" y="2019300"/>
            <a:ext cx="9525" cy="152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67085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24400" y="2419350"/>
            <a:ext cx="2324100" cy="38481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667085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715375" y="2667000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67085"/>
            </a:solidFill>
            <a:prstDash val="solid"/>
            <a:tailEnd type="arrow" w="sm" len="sm"/>
          </a:ln>
        </p:spPr>
      </p:cxnSp>
      <p:cxnSp>
        <p:nvCxnSpPr>
          <p:cNvPr id="77" name=""/>
          <p:cNvCxnSpPr>
            <a:stCxn xmlns:a="http://schemas.openxmlformats.org/drawingml/2006/main" id="16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724400" y="3238500"/>
            <a:ext cx="2324100" cy="302895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667085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095625" y="353377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67085"/>
            </a:solidFill>
            <a:prstDash val="soli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724400" y="4057650"/>
            <a:ext cx="2324100" cy="22098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667085"/>
            </a:solidFill>
            <a:prstDash val="soli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715375" y="4305300"/>
            <a:ext cx="19050" cy="238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67085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24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8715375" y="5191125"/>
            <a:ext cx="19050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12B76A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24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4724400" y="4867275"/>
            <a:ext cx="3686175" cy="1400175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D92D20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26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3095625" y="43053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92D20"/>
            </a:solidFill>
            <a:prstDash val="soli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28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696325" y="5972175"/>
            <a:ext cx="19050" cy="123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12B76A"/>
            </a:solidFill>
            <a:prstDash val="solid"/>
            <a:tailEnd type="arrow" w="sm" len="sm"/>
          </a:ln>
        </p:spPr>
      </p:cxnSp>
      <p:sp>
        <p:nvSpPr>
          <p:cNvPr id="42" name="no-label">
            <a:extLst xmlns:a="http://schemas.openxmlformats.org/drawingml/2006/main">
              <a:ext uri="{FF2B5EF4-FFF2-40B4-BE49-F238E27FC236}">
                <a16:creationId xmlns:a16="http://schemas.microsoft.com/office/drawing/2014/main" id="{C046BF03-AC45-493A-A6D0-4805F792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2D20"/>
                </a:solidFill>
              </a:defRPr>
            </a:pPr>
            <a:r>
              <a:rPr sz="825" b="1">
                <a:solidFill>
                  <a:srgbClr val="D92D20"/>
                </a:solidFill>
              </a:rPr>
              <a:t>NO</a:t>
            </a:r>
          </a:p>
        </p:txBody>
      </p:sp>
      <p:sp>
        <p:nvSpPr>
          <p:cNvPr id="43" name="yes-label">
            <a:extLst xmlns:a="http://schemas.openxmlformats.org/drawingml/2006/main">
              <a:ext uri="{FF2B5EF4-FFF2-40B4-BE49-F238E27FC236}">
                <a16:creationId xmlns:a16="http://schemas.microsoft.com/office/drawing/2014/main" id="{D0C14502-DED7-47E4-BF7D-357F4A35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19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B76A"/>
                </a:solidFill>
              </a:defRPr>
            </a:pPr>
            <a:r>
              <a:rPr sz="825" b="1">
                <a:solidFill>
                  <a:srgbClr val="12B76A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634611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9274D0-4B7D-48EF-A428-A7C042A7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43B37E1-5F94-4463-A5D7-3197CEB0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SEQUENCE OF RESPONSIBILITY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53289E-4F58-471C-A284-24F23332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Every state change is authorised, validated and recorded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BC1D8E-59AC-4962-A6CE-5BC7A3A8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After this slide, pause the presentation and perform the product demonstration.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404E0-D0F3-4CCF-97E0-5F46A1F5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4CAF839-F0F0-41EE-A3E2-19007985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213B92A-E74D-441C-B44C-7A10CE09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05</a:t>
            </a:r>
          </a:p>
        </p:txBody>
      </p:sp>
      <p:sp>
        <p:nvSpPr>
          <p:cNvPr id="8" name="sequence-participant">
            <a:extLst xmlns:a="http://schemas.openxmlformats.org/drawingml/2006/main">
              <a:ext uri="{FF2B5EF4-FFF2-40B4-BE49-F238E27FC236}">
                <a16:creationId xmlns:a16="http://schemas.microsoft.com/office/drawing/2014/main" id="{99C5561A-B94A-471D-A2DD-F0398BF6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1D35"/>
          </a:solidFill>
          <a:ln xmlns:a="http://schemas.openxmlformats.org/drawingml/2006/main" w="9525">
            <a:solidFill>
              <a:srgbClr val="151D35"/>
            </a:solidFill>
            <a:prstDash val="solid"/>
          </a:ln>
        </p:spPr>
      </p:sp>
      <p:sp>
        <p:nvSpPr>
          <p:cNvPr id="9" name="participant-text">
            <a:extLst xmlns:a="http://schemas.openxmlformats.org/drawingml/2006/main">
              <a:ext uri="{FF2B5EF4-FFF2-40B4-BE49-F238E27FC236}">
                <a16:creationId xmlns:a16="http://schemas.microsoft.com/office/drawing/2014/main" id="{D8A6F4C1-5135-4282-A695-2CEBBF63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192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Supervisor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3ABB2-A718-4383-A7C3-43A5923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717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8"/>
          </a:solidFill>
          <a:ln xmlns:a="http://schemas.openxmlformats.org/drawingml/2006/main" w="0">
            <a:solidFill>
              <a:srgbClr val="C9CDD8"/>
            </a:solidFill>
            <a:prstDash val="solid"/>
          </a:ln>
        </p:spPr>
      </p:sp>
      <p:sp>
        <p:nvSpPr>
          <p:cNvPr id="11" name="sequence-participant">
            <a:extLst xmlns:a="http://schemas.openxmlformats.org/drawingml/2006/main">
              <a:ext uri="{FF2B5EF4-FFF2-40B4-BE49-F238E27FC236}">
                <a16:creationId xmlns:a16="http://schemas.microsoft.com/office/drawing/2014/main" id="{13EE2BFB-7870-49E2-A18D-C6A8E9B1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1D35"/>
          </a:solidFill>
          <a:ln xmlns:a="http://schemas.openxmlformats.org/drawingml/2006/main" w="9525">
            <a:solidFill>
              <a:srgbClr val="151D35"/>
            </a:solidFill>
            <a:prstDash val="solid"/>
          </a:ln>
        </p:spPr>
      </p:sp>
      <p:sp>
        <p:nvSpPr>
          <p:cNvPr id="12" name="participant-text">
            <a:extLst xmlns:a="http://schemas.openxmlformats.org/drawingml/2006/main">
              <a:ext uri="{FF2B5EF4-FFF2-40B4-BE49-F238E27FC236}">
                <a16:creationId xmlns:a16="http://schemas.microsoft.com/office/drawing/2014/main" id="{413C2A40-4B27-46FF-8A1E-2EFCEE94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192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Evaluation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58882-8D1E-4F06-9C42-3ED9F02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8"/>
          </a:solidFill>
          <a:ln xmlns:a="http://schemas.openxmlformats.org/drawingml/2006/main" w="0">
            <a:solidFill>
              <a:srgbClr val="C9CDD8"/>
            </a:solidFill>
            <a:prstDash val="solid"/>
          </a:ln>
        </p:spPr>
      </p:sp>
      <p:sp>
        <p:nvSpPr>
          <p:cNvPr id="14" name="sequence-participant">
            <a:extLst xmlns:a="http://schemas.openxmlformats.org/drawingml/2006/main">
              <a:ext uri="{FF2B5EF4-FFF2-40B4-BE49-F238E27FC236}">
                <a16:creationId xmlns:a16="http://schemas.microsoft.com/office/drawing/2014/main" id="{6C528E4A-01A3-4D49-89AE-DD5016DF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5260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5747F5"/>
          </a:solidFill>
          <a:ln xmlns:a="http://schemas.openxmlformats.org/drawingml/2006/main" w="9525">
            <a:solidFill>
              <a:srgbClr val="5747F5"/>
            </a:solidFill>
            <a:prstDash val="solid"/>
          </a:ln>
        </p:spPr>
      </p:sp>
      <p:sp>
        <p:nvSpPr>
          <p:cNvPr id="15" name="participant-text">
            <a:extLst xmlns:a="http://schemas.openxmlformats.org/drawingml/2006/main">
              <a:ext uri="{FF2B5EF4-FFF2-40B4-BE49-F238E27FC236}">
                <a16:creationId xmlns:a16="http://schemas.microsoft.com/office/drawing/2014/main" id="{AA9AD33B-0313-4B10-BBA0-0053D949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192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Flask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92C72-160D-447B-AFC1-0E6F04BF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8"/>
          </a:solidFill>
          <a:ln xmlns:a="http://schemas.openxmlformats.org/drawingml/2006/main" w="0">
            <a:solidFill>
              <a:srgbClr val="C9CDD8"/>
            </a:solidFill>
            <a:prstDash val="solid"/>
          </a:ln>
        </p:spPr>
      </p:sp>
      <p:sp>
        <p:nvSpPr>
          <p:cNvPr id="17" name="sequence-participant">
            <a:extLst xmlns:a="http://schemas.openxmlformats.org/drawingml/2006/main">
              <a:ext uri="{FF2B5EF4-FFF2-40B4-BE49-F238E27FC236}">
                <a16:creationId xmlns:a16="http://schemas.microsoft.com/office/drawing/2014/main" id="{2829E189-BD64-4A33-9C44-CF26B105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1D35"/>
          </a:solidFill>
          <a:ln xmlns:a="http://schemas.openxmlformats.org/drawingml/2006/main" w="9525">
            <a:solidFill>
              <a:srgbClr val="151D35"/>
            </a:solidFill>
            <a:prstDash val="solid"/>
          </a:ln>
        </p:spPr>
      </p:sp>
      <p:sp>
        <p:nvSpPr>
          <p:cNvPr id="18" name="participant-text">
            <a:extLst xmlns:a="http://schemas.openxmlformats.org/drawingml/2006/main">
              <a:ext uri="{FF2B5EF4-FFF2-40B4-BE49-F238E27FC236}">
                <a16:creationId xmlns:a16="http://schemas.microsoft.com/office/drawing/2014/main" id="{28093244-73F2-4420-A26A-730ED4E9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192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3FC08-DB95-4528-ABE9-9ACD1BA1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8"/>
          </a:solidFill>
          <a:ln xmlns:a="http://schemas.openxmlformats.org/drawingml/2006/main" w="0">
            <a:solidFill>
              <a:srgbClr val="C9CDD8"/>
            </a:solidFill>
            <a:prstDash val="solid"/>
          </a:ln>
        </p:spPr>
      </p:sp>
      <p:sp>
        <p:nvSpPr>
          <p:cNvPr id="20" name="sequence-participant">
            <a:extLst xmlns:a="http://schemas.openxmlformats.org/drawingml/2006/main">
              <a:ext uri="{FF2B5EF4-FFF2-40B4-BE49-F238E27FC236}">
                <a16:creationId xmlns:a16="http://schemas.microsoft.com/office/drawing/2014/main" id="{9BA78E39-C44B-4E9A-8252-55B4E3BF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5260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1D35"/>
          </a:solidFill>
          <a:ln xmlns:a="http://schemas.openxmlformats.org/drawingml/2006/main" w="9525">
            <a:solidFill>
              <a:srgbClr val="151D35"/>
            </a:solidFill>
            <a:prstDash val="solid"/>
          </a:ln>
        </p:spPr>
      </p:sp>
      <p:sp>
        <p:nvSpPr>
          <p:cNvPr id="21" name="participant-text">
            <a:extLst xmlns:a="http://schemas.openxmlformats.org/drawingml/2006/main">
              <a:ext uri="{FF2B5EF4-FFF2-40B4-BE49-F238E27FC236}">
                <a16:creationId xmlns:a16="http://schemas.microsoft.com/office/drawing/2014/main" id="{3369EDA6-29AA-43D0-B23A-A118198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192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E6E33-AE51-4046-8788-6124BA70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717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8"/>
          </a:solidFill>
          <a:ln xmlns:a="http://schemas.openxmlformats.org/drawingml/2006/main" w="0">
            <a:solidFill>
              <a:srgbClr val="C9CDD8"/>
            </a:solidFill>
            <a:prstDash val="solid"/>
          </a:ln>
        </p:spPr>
      </p:sp>
      <p:sp>
        <p:nvSpPr>
          <p:cNvPr id="23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C65A255E-E706-4DF0-B73C-59B1EC05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543175"/>
            <a:ext cx="226695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024FD470-97F4-4E70-9A20-CECC4EE1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241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230"/>
                </a:solidFill>
              </a:defRPr>
            </a:pPr>
            <a:r>
              <a:rPr sz="900" b="0">
                <a:solidFill>
                  <a:srgbClr val="182230"/>
                </a:solidFill>
              </a:rPr>
              <a:t>1  Open assigned evaluation</a:t>
            </a:r>
          </a:p>
        </p:txBody>
      </p:sp>
      <p:sp>
        <p:nvSpPr>
          <p:cNvPr id="25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B23FBAB5-F91D-4479-9FB7-C77877FE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95600"/>
            <a:ext cx="22860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B71C3CDA-E0C7-4D94-ACE5-D8B6994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765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230"/>
                </a:solidFill>
              </a:defRPr>
            </a:pPr>
            <a:r>
              <a:rPr sz="900" b="0">
                <a:solidFill>
                  <a:srgbClr val="182230"/>
                </a:solidFill>
              </a:rPr>
              <a:t>2  GET evaluation workspace</a:t>
            </a:r>
          </a:p>
        </p:txBody>
      </p:sp>
      <p:sp>
        <p:nvSpPr>
          <p:cNvPr id="27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4C7B31C6-F6BE-4508-8450-5E375012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48025"/>
            <a:ext cx="22860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7E86ED72-2F43-48E8-9648-6A86A4F2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230"/>
                </a:solidFill>
              </a:defRPr>
            </a:pPr>
            <a:r>
              <a:rPr sz="900" b="0">
                <a:solidFill>
                  <a:srgbClr val="182230"/>
                </a:solidFill>
              </a:rPr>
              <a:t>3  Load authorised evidence package</a:t>
            </a:r>
          </a:p>
        </p:txBody>
      </p:sp>
      <p:sp>
        <p:nvSpPr>
          <p:cNvPr id="29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1CF0A378-A545-4568-8112-418FF9B1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600450"/>
            <a:ext cx="2286000" cy="666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1F88B09C-2513-445C-B942-9E2182A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8137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230"/>
                </a:solidFill>
              </a:defRPr>
            </a:pPr>
            <a:r>
              <a:rPr sz="900" b="0">
                <a:solidFill>
                  <a:srgbClr val="182230"/>
                </a:solidFill>
              </a:rPr>
              <a:t>4  Return review data</a:t>
            </a:r>
          </a:p>
        </p:txBody>
      </p:sp>
      <p:sp>
        <p:nvSpPr>
          <p:cNvPr id="31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967569E6-FAC7-482A-A361-4E158D42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52875"/>
            <a:ext cx="2286000" cy="666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CEFBD86E-35B5-48B0-8398-9398D42C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338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230"/>
                </a:solidFill>
              </a:defRPr>
            </a:pPr>
            <a:r>
              <a:rPr sz="900" b="0">
                <a:solidFill>
                  <a:srgbClr val="182230"/>
                </a:solidFill>
              </a:rPr>
              <a:t>5  Display consolidated evidence</a:t>
            </a:r>
          </a:p>
        </p:txBody>
      </p:sp>
      <p:sp>
        <p:nvSpPr>
          <p:cNvPr id="33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3D937BF5-FE84-45C6-B2AA-318CB0F3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05300"/>
            <a:ext cx="226695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24976659-9114-4180-9794-AE0B23FE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862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230"/>
                </a:solidFill>
              </a:defRPr>
            </a:pPr>
            <a:r>
              <a:rPr sz="900" b="0">
                <a:solidFill>
                  <a:srgbClr val="182230"/>
                </a:solidFill>
              </a:rPr>
              <a:t>6  Enter ratings and comments</a:t>
            </a:r>
          </a:p>
        </p:txBody>
      </p:sp>
      <p:sp>
        <p:nvSpPr>
          <p:cNvPr id="35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94AD5158-E941-4F73-A45F-D8D4DFFE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657725"/>
            <a:ext cx="22860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EEA3E9EB-D033-4416-BD6D-7D089951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38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230"/>
                </a:solidFill>
              </a:defRPr>
            </a:pPr>
            <a:r>
              <a:rPr sz="900" b="0">
                <a:solidFill>
                  <a:srgbClr val="182230"/>
                </a:solidFill>
              </a:rPr>
              <a:t>7  Save draft / submit</a:t>
            </a:r>
          </a:p>
        </p:txBody>
      </p:sp>
      <p:sp>
        <p:nvSpPr>
          <p:cNvPr id="37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33D629BF-41D9-4D9B-9B5A-22D5E07F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010150"/>
            <a:ext cx="22860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AB8A00F9-67A1-425A-9162-D0770E0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9107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2B76A"/>
                </a:solidFill>
              </a:defRPr>
            </a:pPr>
            <a:r>
              <a:rPr sz="900" b="0">
                <a:solidFill>
                  <a:srgbClr val="12B76A"/>
                </a:solidFill>
              </a:rPr>
              <a:t>8  Validate, save and lock</a:t>
            </a:r>
          </a:p>
        </p:txBody>
      </p:sp>
      <p:sp>
        <p:nvSpPr>
          <p:cNvPr id="39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A07DBEC8-F0FB-4A05-BF60-CC36C647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362575"/>
            <a:ext cx="22860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5132FE4A-276A-4242-81B3-F3A63924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76A"/>
                </a:solidFill>
              </a:defRPr>
            </a:pPr>
            <a:r>
              <a:rPr sz="900" b="1">
                <a:solidFill>
                  <a:srgbClr val="12B76A"/>
                </a:solidFill>
              </a:rPr>
              <a:t>9  Update status + create approval task</a:t>
            </a:r>
          </a:p>
        </p:txBody>
      </p:sp>
      <p:sp>
        <p:nvSpPr>
          <p:cNvPr id="41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9EA33903-B680-4B38-AB94-B34A4CA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715000"/>
            <a:ext cx="4572000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43B03D46-EBEE-4853-9C60-5B407D17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9592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2B76A"/>
                </a:solidFill>
              </a:defRPr>
            </a:pPr>
            <a:r>
              <a:rPr sz="900" b="0">
                <a:solidFill>
                  <a:srgbClr val="12B76A"/>
                </a:solidFill>
              </a:rPr>
              <a:t>10  Notify manager</a:t>
            </a:r>
          </a:p>
        </p:txBody>
      </p:sp>
      <p:sp>
        <p:nvSpPr>
          <p:cNvPr id="43" name="sequence-message-arrow">
            <a:extLst xmlns:a="http://schemas.openxmlformats.org/drawingml/2006/main">
              <a:ext uri="{FF2B5EF4-FFF2-40B4-BE49-F238E27FC236}">
                <a16:creationId xmlns:a16="http://schemas.microsoft.com/office/drawing/2014/main" id="{57788DCC-01BE-4CE7-AADE-F5AA0749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6067425"/>
            <a:ext cx="2286000" cy="666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A3702663-F99E-4612-BD3A-E2CF7B83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8483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2B76A"/>
                </a:solidFill>
              </a:defRPr>
            </a:pPr>
            <a:r>
              <a:rPr sz="900" b="0">
                <a:solidFill>
                  <a:srgbClr val="12B76A"/>
                </a:solidFill>
              </a:rPr>
              <a:t>11  Confirm successful submission</a:t>
            </a:r>
          </a:p>
        </p:txBody>
      </p:sp>
      <p:sp>
        <p:nvSpPr>
          <p:cNvPr id="45" name="demo-cue">
            <a:extLst xmlns:a="http://schemas.openxmlformats.org/drawingml/2006/main">
              <a:ext uri="{FF2B5EF4-FFF2-40B4-BE49-F238E27FC236}">
                <a16:creationId xmlns:a16="http://schemas.microsoft.com/office/drawing/2014/main" id="{A9A778E2-009C-4167-AC40-6263E53D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57300"/>
            <a:ext cx="2628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ECFF"/>
          </a:solidFill>
          <a:ln xmlns:a="http://schemas.openxmlformats.org/drawingml/2006/main" w="9525">
            <a:solidFill>
              <a:srgbClr val="C8C2FF"/>
            </a:solidFill>
            <a:prstDash val="solid"/>
          </a:ln>
        </p:spPr>
      </p:sp>
      <p:sp>
        <p:nvSpPr>
          <p:cNvPr id="46" name="demo-cue-text">
            <a:extLst xmlns:a="http://schemas.openxmlformats.org/drawingml/2006/main">
              <a:ext uri="{FF2B5EF4-FFF2-40B4-BE49-F238E27FC236}">
                <a16:creationId xmlns:a16="http://schemas.microsoft.com/office/drawing/2014/main" id="{3F8EDDA2-FBB1-48D8-919F-9E3192D5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239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747F5"/>
                </a:solidFill>
              </a:defRPr>
            </a:pPr>
            <a:r>
              <a:rPr sz="825" b="1">
                <a:solidFill>
                  <a:srgbClr val="5747F5"/>
                </a:solidFill>
              </a:rPr>
              <a:t>DEMO BEGINS AFTER THIS SLIDE</a:t>
            </a:r>
          </a:p>
        </p:txBody>
      </p:sp>
    </p:spTree>
    <p:extLst>
      <p:ext uri="{BB962C8B-B14F-4D97-AF65-F5344CB8AC3E}">
        <p14:creationId xmlns:p14="http://schemas.microsoft.com/office/powerpoint/2010/main" val="1096793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4B597-6239-4CDA-A2E8-35DB5D7C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ADE0F62-771C-455E-B4DA-048EE4F1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EVIDENCE OF QUALITY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C4785-F5BB-4F73-AE8F-B8C17906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Four tests cover success, misuse, validation and performance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8D9A9D0-5A6A-43D8-BFE4-0CE01ADE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PB09 — Complete Supervisor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B6EAD-4DCF-41A1-8902-DBCD8FF2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3332145-834C-4F17-BE14-FE4C9AAC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A7B420-2A88-47D9-9563-2C09D967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809750"/>
          <a:ext xmlns:a="http://schemas.openxmlformats.org/drawingml/2006/main" cx="110871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2952750"/>
                <a:gridCol w="3714750"/>
                <a:gridCol w="2990850"/>
              </a:tblGrid>
              <a:tr h="4953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TEST TYPE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ACTUAL DATA / ACTION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747F5"/>
                          </a:solidFill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Assigned supervisor submits a completed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Abdur Rahman • ALT003 • Mid Year Review 2026 • complete ratings and comments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Evaluation locks, status becomes Pending Manager Approval, and manager task is created.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747F5"/>
                          </a:solidFill>
                        </a:rPr>
                        <a:t>Invalid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Unassigned supervisor opens the evaluation URL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A supervisor who does not manage ALT003 attempts direct access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Access is denied and no review information is disclosed or modified.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747F5"/>
                          </a:solidFill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Required rating or comment is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Leave one goal without a supervisor rating and select Submit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Submission is blocked, the field is highlighted, and workflow status is unchanged.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747F5"/>
                          </a:solidFill>
                        </a:rPr>
                        <a:t>Non-functional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Evaluation workspace response time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Load goals, self-assessment, peer feedback and evidence under normal demo conditions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Workspace loads within 2 seconds and anonymous peer identities remain protected.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</a:tr>
            </a:tbl>
          </a:graphicData>
        </a:graphic>
      </p:graphicFrame>
      <p:sp>
        <p:nvSpPr>
          <p:cNvPr id="9" name="evidence-note">
            <a:extLst xmlns:a="http://schemas.openxmlformats.org/drawingml/2006/main">
              <a:ext uri="{FF2B5EF4-FFF2-40B4-BE49-F238E27FC236}">
                <a16:creationId xmlns:a16="http://schemas.microsoft.com/office/drawing/2014/main" id="{4469B31D-2C7A-4288-9570-FC4AEB54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11087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10" name="evidence-note-text">
            <a:extLst xmlns:a="http://schemas.openxmlformats.org/drawingml/2006/main">
              <a:ext uri="{FF2B5EF4-FFF2-40B4-BE49-F238E27FC236}">
                <a16:creationId xmlns:a16="http://schemas.microsoft.com/office/drawing/2014/main" id="{091A02C9-A5D6-4B3F-8F0E-1B7C54E5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8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B76A"/>
                </a:solidFill>
              </a:defRPr>
            </a:pPr>
            <a:r>
              <a:rPr sz="975" b="1">
                <a:solidFill>
                  <a:srgbClr val="12B76A"/>
                </a:solidFill>
              </a:rPr>
              <a:t>DEMO EVIDENCE  ·  capture the submitted form, success message, new status and manager task</a:t>
            </a:r>
          </a:p>
        </p:txBody>
      </p:sp>
    </p:spTree>
    <p:extLst>
      <p:ext uri="{BB962C8B-B14F-4D97-AF65-F5344CB8AC3E}">
        <p14:creationId xmlns:p14="http://schemas.microsoft.com/office/powerpoint/2010/main" val="56972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E3C90-5A91-4415-9133-843289A2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07FBD1C-53E5-4C83-998D-FD81090B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INDIVIDUAL SPRINT 1 RETROSPECTIVE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AD8D41-1251-40F3-9E0F-BB621E8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Abdur Rahman: learning through two Agile perspectives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0117348-DAE1-4E1B-89BE-3CB13BFF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Quality Assurance  →  Business Analyst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9A8B7-6DED-4FFD-A96A-DCA4DBB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F6FA1B-C9C6-450F-B6B8-FAB0C853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55E5730-BBD8-4262-9A97-0FC55E87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07</a:t>
            </a:r>
          </a:p>
        </p:txBody>
      </p:sp>
      <p:sp>
        <p:nvSpPr>
          <p:cNvPr id="8" name="quote-mark">
            <a:extLst xmlns:a="http://schemas.openxmlformats.org/drawingml/2006/main">
              <a:ext uri="{FF2B5EF4-FFF2-40B4-BE49-F238E27FC236}">
                <a16:creationId xmlns:a16="http://schemas.microsoft.com/office/drawing/2014/main" id="{E6111FF4-A841-445C-ACA3-9FC835A9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9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5747F5"/>
                </a:solidFill>
              </a:defRPr>
            </a:pPr>
            <a:r>
              <a:rPr sz="5400" b="1">
                <a:solidFill>
                  <a:srgbClr val="5747F5"/>
                </a:solidFill>
              </a:rPr>
              <a:t>“</a:t>
            </a:r>
          </a:p>
        </p:txBody>
      </p:sp>
      <p:sp>
        <p:nvSpPr>
          <p:cNvPr id="9" name="retro-quote">
            <a:extLst xmlns:a="http://schemas.openxmlformats.org/drawingml/2006/main">
              <a:ext uri="{FF2B5EF4-FFF2-40B4-BE49-F238E27FC236}">
                <a16:creationId xmlns:a16="http://schemas.microsoft.com/office/drawing/2014/main" id="{69E33A49-9F52-4C25-B00A-4B809E63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0"/>
                </a:solidFill>
              </a:defRPr>
            </a:pPr>
            <a:r>
              <a:rPr sz="1875" b="1">
                <a:solidFill>
                  <a:srgbClr val="182230"/>
                </a:solidFill>
              </a:rPr>
              <a:t>Continuous alignment matters as much as final verification.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C9F32-CB6F-4C15-BCA9-921B1378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BA0D8C8-98F8-44D1-9154-DE08844F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CONTRIBUTION</a:t>
            </a:r>
          </a:p>
        </p:txBody>
      </p:sp>
      <p:sp>
        <p:nvSpPr>
          <p:cNvPr id="12" name="retro-body">
            <a:extLst xmlns:a="http://schemas.openxmlformats.org/drawingml/2006/main">
              <a:ext uri="{FF2B5EF4-FFF2-40B4-BE49-F238E27FC236}">
                <a16:creationId xmlns:a16="http://schemas.microsoft.com/office/drawing/2014/main" id="{77182A05-8C17-4E65-A49E-06666936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Prepared and executed manual tests, identified inconsistencies, and modelled activity flows against the final implementation.</a:t>
            </a:r>
          </a:p>
        </p:txBody>
      </p:sp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82D1819-B9C9-45C0-91D0-4C0D99DC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WHAT WORKED</a:t>
            </a:r>
          </a:p>
        </p:txBody>
      </p:sp>
      <p:sp>
        <p:nvSpPr>
          <p:cNvPr id="14" name="retro-body">
            <a:extLst xmlns:a="http://schemas.openxmlformats.org/drawingml/2006/main">
              <a:ext uri="{FF2B5EF4-FFF2-40B4-BE49-F238E27FC236}">
                <a16:creationId xmlns:a16="http://schemas.microsoft.com/office/drawing/2014/main" id="{83F2AC02-B1C3-4BD0-AEEA-98B10E2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051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Testing and workflow modelling gave the team a clearer, shared view of how the system should behave.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286098-6CF9-43BB-9C83-9C3D6E3A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CHALLENGE</a:t>
            </a:r>
          </a:p>
        </p:txBody>
      </p:sp>
      <p:sp>
        <p:nvSpPr>
          <p:cNvPr id="16" name="retro-body">
            <a:extLst xmlns:a="http://schemas.openxmlformats.org/drawingml/2006/main">
              <a:ext uri="{FF2B5EF4-FFF2-40B4-BE49-F238E27FC236}">
                <a16:creationId xmlns:a16="http://schemas.microsoft.com/office/drawing/2014/main" id="{5C061648-9386-4C9F-9BA6-444D3002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Workflow changes during development caused rework in diagrams and supporting documentation.</a:t>
            </a:r>
          </a:p>
        </p:txBody>
      </p:sp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DC2DD6-702E-4891-9A9A-47C848D5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B76A"/>
                </a:solidFill>
              </a:defRPr>
            </a:pPr>
            <a:r>
              <a:rPr sz="900" b="1">
                <a:solidFill>
                  <a:srgbClr val="12B76A"/>
                </a:solidFill>
              </a:rPr>
              <a:t>SPRINT 2 COMMITMENT</a:t>
            </a:r>
          </a:p>
        </p:txBody>
      </p:sp>
      <p:sp>
        <p:nvSpPr>
          <p:cNvPr id="18" name="retro-body">
            <a:extLst xmlns:a="http://schemas.openxmlformats.org/drawingml/2006/main">
              <a:ext uri="{FF2B5EF4-FFF2-40B4-BE49-F238E27FC236}">
                <a16:creationId xmlns:a16="http://schemas.microsoft.com/office/drawing/2014/main" id="{2072CE11-0957-475E-A1C5-F179DEE1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244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Review system changes continuously and align requirements, diagrams and tests earlier with the developer.</a:t>
            </a:r>
          </a:p>
        </p:txBody>
      </p:sp>
    </p:spTree>
    <p:extLst>
      <p:ext uri="{BB962C8B-B14F-4D97-AF65-F5344CB8AC3E}">
        <p14:creationId xmlns:p14="http://schemas.microsoft.com/office/powerpoint/2010/main" val="1804983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C37C9-7EAC-4A8D-B803-B70FDB65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340B982-5F45-45FD-BE5E-FD432C1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INDIVIDUAL SPRINT 1 RETROSPECTIVE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7F5B2D-D374-4EBB-96F9-42879BF6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Muhammed Akram: learning through two Agile perspectives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DD385E6-0732-4D56-A70A-C270C03A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Business Analyst  →  Quality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A7EFE-F086-4658-8D61-C5A3752A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BC065D1-DFD7-4857-A68E-EA13FA8B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9840B3-7440-4656-94F8-BA0EFED9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08</a:t>
            </a:r>
          </a:p>
        </p:txBody>
      </p:sp>
      <p:sp>
        <p:nvSpPr>
          <p:cNvPr id="8" name="quote-mark">
            <a:extLst xmlns:a="http://schemas.openxmlformats.org/drawingml/2006/main">
              <a:ext uri="{FF2B5EF4-FFF2-40B4-BE49-F238E27FC236}">
                <a16:creationId xmlns:a16="http://schemas.microsoft.com/office/drawing/2014/main" id="{C6B77DC8-9E24-4BED-A77C-998D455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9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5747F5"/>
                </a:solidFill>
              </a:defRPr>
            </a:pPr>
            <a:r>
              <a:rPr sz="5400" b="1">
                <a:solidFill>
                  <a:srgbClr val="5747F5"/>
                </a:solidFill>
              </a:rPr>
              <a:t>“</a:t>
            </a:r>
          </a:p>
        </p:txBody>
      </p:sp>
      <p:sp>
        <p:nvSpPr>
          <p:cNvPr id="9" name="retro-quote">
            <a:extLst xmlns:a="http://schemas.openxmlformats.org/drawingml/2006/main">
              <a:ext uri="{FF2B5EF4-FFF2-40B4-BE49-F238E27FC236}">
                <a16:creationId xmlns:a16="http://schemas.microsoft.com/office/drawing/2014/main" id="{6332CE98-B613-4AC4-88D9-1D8B439D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0"/>
                </a:solidFill>
              </a:defRPr>
            </a:pPr>
            <a:r>
              <a:rPr sz="1875" b="1">
                <a:solidFill>
                  <a:srgbClr val="182230"/>
                </a:solidFill>
              </a:rPr>
              <a:t>Clarity at the start reduces rework at the 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13640-9886-4DB8-8285-120FB0C1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83B030C-C34B-48D5-8BEF-654D0CF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CONTRIBUTION</a:t>
            </a:r>
          </a:p>
        </p:txBody>
      </p:sp>
      <p:sp>
        <p:nvSpPr>
          <p:cNvPr id="12" name="retro-body">
            <a:extLst xmlns:a="http://schemas.openxmlformats.org/drawingml/2006/main">
              <a:ext uri="{FF2B5EF4-FFF2-40B4-BE49-F238E27FC236}">
                <a16:creationId xmlns:a16="http://schemas.microsoft.com/office/drawing/2014/main" id="{F7144C25-949D-4C43-AD56-B9A2DA55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Clarified requirements, wrote user stories, created use cases and reviewed whether delivered features matched the agreed scope.</a:t>
            </a:r>
          </a:p>
        </p:txBody>
      </p:sp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E480CD1-3286-4B2F-A9BF-9397CF17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WHAT WORKED</a:t>
            </a:r>
          </a:p>
        </p:txBody>
      </p:sp>
      <p:sp>
        <p:nvSpPr>
          <p:cNvPr id="14" name="retro-body">
            <a:extLst xmlns:a="http://schemas.openxmlformats.org/drawingml/2006/main">
              <a:ext uri="{FF2B5EF4-FFF2-40B4-BE49-F238E27FC236}">
                <a16:creationId xmlns:a16="http://schemas.microsoft.com/office/drawing/2014/main" id="{7F300A2E-05F3-41EF-99F8-95828697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051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Clear user stories and diagrams gave development a stronger path from client need to implementation.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9EA5525-323A-4B53-9CCB-252D8869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CHALLENGE</a:t>
            </a:r>
          </a:p>
        </p:txBody>
      </p:sp>
      <p:sp>
        <p:nvSpPr>
          <p:cNvPr id="16" name="retro-body">
            <a:extLst xmlns:a="http://schemas.openxmlformats.org/drawingml/2006/main">
              <a:ext uri="{FF2B5EF4-FFF2-40B4-BE49-F238E27FC236}">
                <a16:creationId xmlns:a16="http://schemas.microsoft.com/office/drawing/2014/main" id="{137D4875-7543-4FF4-98B9-76C8CB7A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team initially needed more time to understand the client problem and translate it into precise requirements.</a:t>
            </a:r>
          </a:p>
        </p:txBody>
      </p:sp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8CE3905-BE5F-475B-9456-2BDAE07D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B76A"/>
                </a:solidFill>
              </a:defRPr>
            </a:pPr>
            <a:r>
              <a:rPr sz="900" b="1">
                <a:solidFill>
                  <a:srgbClr val="12B76A"/>
                </a:solidFill>
              </a:rPr>
              <a:t>SPRINT 2 COMMITMENT</a:t>
            </a:r>
          </a:p>
        </p:txBody>
      </p:sp>
      <p:sp>
        <p:nvSpPr>
          <p:cNvPr id="18" name="retro-body">
            <a:extLst xmlns:a="http://schemas.openxmlformats.org/drawingml/2006/main">
              <a:ext uri="{FF2B5EF4-FFF2-40B4-BE49-F238E27FC236}">
                <a16:creationId xmlns:a16="http://schemas.microsoft.com/office/drawing/2014/main" id="{58B00E2E-4818-4091-BFBF-7981972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244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Validate requirements earlier and communicate uncertainty before detailed development and documentation begin.</a:t>
            </a:r>
          </a:p>
        </p:txBody>
      </p:sp>
    </p:spTree>
    <p:extLst>
      <p:ext uri="{BB962C8B-B14F-4D97-AF65-F5344CB8AC3E}">
        <p14:creationId xmlns:p14="http://schemas.microsoft.com/office/powerpoint/2010/main" val="1287706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D0581-D0E6-415B-80BE-10D6B285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F7636A8-22BE-46D5-A78D-88A76D2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INDIVIDUAL SPRINT 1 RETROSPECTIVE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050616-A117-4CB0-918F-73D01D05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Abdullah Aroos: learning through two Agile perspectives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2A72D86-2283-478A-AA90-76F47D31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Scrum Master  →  Developer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73AC1-03DA-4D80-8F39-E261CB01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1D6394B-8DE7-43BD-8F23-135F063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70CB75-652D-42F4-8C31-D9661313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09</a:t>
            </a:r>
          </a:p>
        </p:txBody>
      </p:sp>
      <p:sp>
        <p:nvSpPr>
          <p:cNvPr id="8" name="quote-mark">
            <a:extLst xmlns:a="http://schemas.openxmlformats.org/drawingml/2006/main">
              <a:ext uri="{FF2B5EF4-FFF2-40B4-BE49-F238E27FC236}">
                <a16:creationId xmlns:a16="http://schemas.microsoft.com/office/drawing/2014/main" id="{E9E30D9A-8091-4CAE-825E-46B56B24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9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5747F5"/>
                </a:solidFill>
              </a:defRPr>
            </a:pPr>
            <a:r>
              <a:rPr sz="5400" b="1">
                <a:solidFill>
                  <a:srgbClr val="5747F5"/>
                </a:solidFill>
              </a:rPr>
              <a:t>“</a:t>
            </a:r>
          </a:p>
        </p:txBody>
      </p:sp>
      <p:sp>
        <p:nvSpPr>
          <p:cNvPr id="9" name="retro-quote">
            <a:extLst xmlns:a="http://schemas.openxmlformats.org/drawingml/2006/main">
              <a:ext uri="{FF2B5EF4-FFF2-40B4-BE49-F238E27FC236}">
                <a16:creationId xmlns:a16="http://schemas.microsoft.com/office/drawing/2014/main" id="{A018F634-599B-4802-ABEF-A36A12A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0"/>
                </a:solidFill>
              </a:defRPr>
            </a:pPr>
            <a:r>
              <a:rPr sz="1875" b="1">
                <a:solidFill>
                  <a:srgbClr val="182230"/>
                </a:solidFill>
              </a:rPr>
              <a:t>Communication is the bridge between working code and accurate documentation.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27AB5-1C20-4659-8227-37EE4C08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0351221-50C1-40D3-A1AB-6CD41732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CONTRIBUTION</a:t>
            </a:r>
          </a:p>
        </p:txBody>
      </p:sp>
      <p:sp>
        <p:nvSpPr>
          <p:cNvPr id="12" name="retro-body">
            <a:extLst xmlns:a="http://schemas.openxmlformats.org/drawingml/2006/main">
              <a:ext uri="{FF2B5EF4-FFF2-40B4-BE49-F238E27FC236}">
                <a16:creationId xmlns:a16="http://schemas.microsoft.com/office/drawing/2014/main" id="{C45D3545-05E1-4CCB-9255-77D30634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Prioritised the backlog, coordinated meetings and the Scrum board, set up GitHub, then completed and refined the working interface.</a:t>
            </a:r>
          </a:p>
        </p:txBody>
      </p:sp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C3700AA-A6B2-49F1-AD9F-6595ACB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WHAT WORKED</a:t>
            </a:r>
          </a:p>
        </p:txBody>
      </p:sp>
      <p:sp>
        <p:nvSpPr>
          <p:cNvPr id="14" name="retro-body">
            <a:extLst xmlns:a="http://schemas.openxmlformats.org/drawingml/2006/main">
              <a:ext uri="{FF2B5EF4-FFF2-40B4-BE49-F238E27FC236}">
                <a16:creationId xmlns:a16="http://schemas.microsoft.com/office/drawing/2014/main" id="{726CCFAF-0774-4B22-8DE1-CCC4142D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051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prioritised backlog gave the team direction, and the partially built system was successfully completed and explained to the team.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13A419E-6522-4729-8167-8134EC7A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CHALLENGE</a:t>
            </a:r>
          </a:p>
        </p:txBody>
      </p:sp>
      <p:sp>
        <p:nvSpPr>
          <p:cNvPr id="16" name="retro-body">
            <a:extLst xmlns:a="http://schemas.openxmlformats.org/drawingml/2006/main">
              <a:ext uri="{FF2B5EF4-FFF2-40B4-BE49-F238E27FC236}">
                <a16:creationId xmlns:a16="http://schemas.microsoft.com/office/drawing/2014/main" id="{A6E84B5F-10D7-4F5E-A3B8-B393999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Taking over existing code and changing workflows required extra time to understand structure and realign documentation.</a:t>
            </a:r>
          </a:p>
        </p:txBody>
      </p:sp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F4B053-1240-4535-8778-67DDC03C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B76A"/>
                </a:solidFill>
              </a:defRPr>
            </a:pPr>
            <a:r>
              <a:rPr sz="900" b="1">
                <a:solidFill>
                  <a:srgbClr val="12B76A"/>
                </a:solidFill>
              </a:rPr>
              <a:t>SPRINT 2 COMMITMENT</a:t>
            </a:r>
          </a:p>
        </p:txBody>
      </p:sp>
      <p:sp>
        <p:nvSpPr>
          <p:cNvPr id="18" name="retro-body">
            <a:extLst xmlns:a="http://schemas.openxmlformats.org/drawingml/2006/main">
              <a:ext uri="{FF2B5EF4-FFF2-40B4-BE49-F238E27FC236}">
                <a16:creationId xmlns:a16="http://schemas.microsoft.com/office/drawing/2014/main" id="{93920DD3-613A-45EF-BC7A-DA29033E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244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Share development changes earlier and test features throughout implementation instead of waiting until the end.</a:t>
            </a:r>
          </a:p>
        </p:txBody>
      </p:sp>
    </p:spTree>
    <p:extLst>
      <p:ext uri="{BB962C8B-B14F-4D97-AF65-F5344CB8AC3E}">
        <p14:creationId xmlns:p14="http://schemas.microsoft.com/office/powerpoint/2010/main" val="1215025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B5734-6D2A-4926-8954-D02F092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3CA3F65-0647-40D2-ADF0-E7AA6CB7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INDIVIDUAL SPRINT 1 RETROSPECTIVE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90ADF3-F964-4114-9788-F1BB3D62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Sajadh Ahmed: learning through two Agile perspectives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8148A63-679B-4D12-ACAE-F900FAE2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Lead Developer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F2EAA-A054-4BC9-8A35-BB785D0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1B3F283-A364-4FBF-8AA1-096E7EDE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5B324A-0C1A-4F78-8EB9-ED55F0A7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10</a:t>
            </a:r>
          </a:p>
        </p:txBody>
      </p:sp>
      <p:sp>
        <p:nvSpPr>
          <p:cNvPr id="8" name="quote-mark">
            <a:extLst xmlns:a="http://schemas.openxmlformats.org/drawingml/2006/main">
              <a:ext uri="{FF2B5EF4-FFF2-40B4-BE49-F238E27FC236}">
                <a16:creationId xmlns:a16="http://schemas.microsoft.com/office/drawing/2014/main" id="{E54018B3-30EF-4088-B32A-702D01B4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9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5747F5"/>
                </a:solidFill>
              </a:defRPr>
            </a:pPr>
            <a:r>
              <a:rPr sz="5400" b="1">
                <a:solidFill>
                  <a:srgbClr val="5747F5"/>
                </a:solidFill>
              </a:rPr>
              <a:t>“</a:t>
            </a:r>
          </a:p>
        </p:txBody>
      </p:sp>
      <p:sp>
        <p:nvSpPr>
          <p:cNvPr id="9" name="retro-quote">
            <a:extLst xmlns:a="http://schemas.openxmlformats.org/drawingml/2006/main">
              <a:ext uri="{FF2B5EF4-FFF2-40B4-BE49-F238E27FC236}">
                <a16:creationId xmlns:a16="http://schemas.microsoft.com/office/drawing/2014/main" id="{93BC9CE9-B61B-4C0B-9EDD-E168F1B1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0"/>
                </a:solidFill>
              </a:defRPr>
            </a:pPr>
            <a:r>
              <a:rPr sz="1875" b="1">
                <a:solidFill>
                  <a:srgbClr val="182230"/>
                </a:solidFill>
              </a:rPr>
              <a:t>Stable contracts let the whole team move faster.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D854B-1FBA-4653-AC05-78F33BF3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C926432-A439-4201-8E54-04EE7745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CONTRIBUTION</a:t>
            </a:r>
          </a:p>
        </p:txBody>
      </p:sp>
      <p:sp>
        <p:nvSpPr>
          <p:cNvPr id="12" name="retro-body">
            <a:extLst xmlns:a="http://schemas.openxmlformats.org/drawingml/2006/main">
              <a:ext uri="{FF2B5EF4-FFF2-40B4-BE49-F238E27FC236}">
                <a16:creationId xmlns:a16="http://schemas.microsoft.com/office/drawing/2014/main" id="{C97D3A7E-E6B5-4769-9EBE-DE961A24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Designed the Flask architecture, database transactions, session controls, RBAC and the end-to-end appraisal workflow.</a:t>
            </a:r>
          </a:p>
        </p:txBody>
      </p:sp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8A5ECE5-0D34-4C68-9D4B-DD834FD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WHAT WORKED</a:t>
            </a:r>
          </a:p>
        </p:txBody>
      </p:sp>
      <p:sp>
        <p:nvSpPr>
          <p:cNvPr id="14" name="retro-body">
            <a:extLst xmlns:a="http://schemas.openxmlformats.org/drawingml/2006/main">
              <a:ext uri="{FF2B5EF4-FFF2-40B4-BE49-F238E27FC236}">
                <a16:creationId xmlns:a16="http://schemas.microsoft.com/office/drawing/2014/main" id="{3F7F2EA2-1A73-479A-908E-C45C2D8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051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Early authentication guards and clear UML flows made complex workflow implementation and debugging more reliable.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DAF1B18-5198-4820-BD10-B9A4FF56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CHALLENGE</a:t>
            </a:r>
          </a:p>
        </p:txBody>
      </p:sp>
      <p:sp>
        <p:nvSpPr>
          <p:cNvPr id="16" name="retro-body">
            <a:extLst xmlns:a="http://schemas.openxmlformats.org/drawingml/2006/main">
              <a:ext uri="{FF2B5EF4-FFF2-40B4-BE49-F238E27FC236}">
                <a16:creationId xmlns:a16="http://schemas.microsoft.com/office/drawing/2014/main" id="{212B8F7A-EBF7-4F56-814C-22E36EE5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Turning high-level requirements into database constraints and validation rules required architectural refactoring under time pressure.</a:t>
            </a:r>
          </a:p>
        </p:txBody>
      </p:sp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A9B404E-3A3F-4D76-B57E-13F8F291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29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B76A"/>
                </a:solidFill>
              </a:defRPr>
            </a:pPr>
            <a:r>
              <a:rPr sz="900" b="1">
                <a:solidFill>
                  <a:srgbClr val="12B76A"/>
                </a:solidFill>
              </a:rPr>
              <a:t>SPRINT 2 COMMITMENT</a:t>
            </a:r>
          </a:p>
        </p:txBody>
      </p:sp>
      <p:sp>
        <p:nvSpPr>
          <p:cNvPr id="18" name="retro-body">
            <a:extLst xmlns:a="http://schemas.openxmlformats.org/drawingml/2006/main">
              <a:ext uri="{FF2B5EF4-FFF2-40B4-BE49-F238E27FC236}">
                <a16:creationId xmlns:a16="http://schemas.microsoft.com/office/drawing/2014/main" id="{D3F1CEDE-DAA3-47D9-A5AA-98E6D7BC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244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Freeze backend contracts and migrations earlier, then add automated integration tests so development and QA can proceed in parallel.</a:t>
            </a:r>
          </a:p>
        </p:txBody>
      </p:sp>
    </p:spTree>
    <p:extLst>
      <p:ext uri="{BB962C8B-B14F-4D97-AF65-F5344CB8AC3E}">
        <p14:creationId xmlns:p14="http://schemas.microsoft.com/office/powerpoint/2010/main" val="13440552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AA99D-E8EB-4F4D-AAA0-CAA22411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47F5"/>
          </a:solidFill>
          <a:ln xmlns:a="http://schemas.openxmlformats.org/drawingml/2006/main" w="0">
            <a:solidFill>
              <a:srgbClr val="5747F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1A0282B-F233-40AA-8BC9-400D4C79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47F5"/>
                </a:solidFill>
              </a:defRPr>
            </a:pPr>
            <a:r>
              <a:rPr sz="975" b="1">
                <a:solidFill>
                  <a:srgbClr val="5747F5"/>
                </a:solidFill>
              </a:rPr>
              <a:t>OPTIONAL WORKLOAD MATRIX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AF3E60-E6E6-4D18-BEC3-583EE205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230"/>
                </a:solidFill>
              </a:defRPr>
            </a:pPr>
            <a:r>
              <a:rPr sz="2700" b="1">
                <a:solidFill>
                  <a:srgbClr val="182230"/>
                </a:solidFill>
              </a:rPr>
              <a:t>Sprint 1 contributions are shown as completed work—not percentages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9AF86A9-C7DE-42BD-BE37-65C8366B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 transparent record of concrete outputs across coordination, analysis, quality and development.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8385E-EB6D-40ED-B6CE-505ED3E4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solidFill>
              <a:srgbClr val="DDE1EC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5C82ADB-010E-49A5-A5A8-E847EF9E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ALTRIUM  /  SPRINT 1 REVIEW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B12077A-F35A-4E73-B160-2B8407B1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747F5"/>
                </a:solidFill>
              </a:defRPr>
            </a:pPr>
            <a:r>
              <a:rPr sz="900" b="1">
                <a:solidFill>
                  <a:srgbClr val="5747F5"/>
                </a:solidFill>
              </a:rPr>
              <a:t>11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809750"/>
          <a:ext xmlns:a="http://schemas.openxmlformats.org/drawingml/2006/main" cx="110871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238375"/>
                <a:gridCol w="2238375"/>
                <a:gridCol w="2305050"/>
                <a:gridCol w="2305050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TEAM MEMBER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COORDINATION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ANALYSIS &amp; UML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QUALITY ASSURANCE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DEVELOPMENT</a:t>
                      </a:r>
                    </a:p>
                  </a:txBody>
                  <a:tcPr marL="91440" marR="91440" marT="45720" marB="45720">
                    <a:solidFill>
                      <a:srgbClr val="151D35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747F5"/>
                          </a:solidFill>
                        </a:rPr>
                        <a:t>Abdullah Aroos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Backlog ordering; meetings; Scrum board; GitHub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Reviewed workflow changes with the team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Feature checking and UI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Completed existing system; UI styling and integration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747F5"/>
                          </a:solidFill>
                        </a:rPr>
                        <a:t>Abdur Rahman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Supported team review discussions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Activity diagrams; workflow alignment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Manual test cases; issue identification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Implementation verification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747F5"/>
                          </a:solidFill>
                        </a:rPr>
                        <a:t>Muhammed Akram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Requirement clarification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User stories; use-case diagrams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Scope and consistency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Developer guidance through documented flows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5747F5"/>
                          </a:solidFill>
                        </a:rPr>
                        <a:t>Sajadh Ahmed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Technical planning and integration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Technical alignment with UML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Debugging and endpoint verification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</a:rPr>
                        <a:t>Flask routes; database; RBAC; core workflows</a:t>
                      </a:r>
                    </a:p>
                  </a:txBody>
                  <a:tcPr marL="91440" marR="91440" marT="45720" marB="45720">
                    <a:solidFill>
                      <a:srgbClr val="F5F6FB"/>
                    </a:solidFill>
                  </a:tcPr>
                </a:tc>
              </a:tr>
            </a:tbl>
          </a:graphicData>
        </a:graphic>
      </p:graphicFrame>
      <p:sp>
        <p:nvSpPr>
          <p:cNvPr id="9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4F276BBC-3656-42C0-8B1C-DA05EFFC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1D35"/>
          </a:solidFill>
          <a:ln xmlns:a="http://schemas.openxmlformats.org/drawingml/2006/main" w="9525">
            <a:solidFill>
              <a:srgbClr val="151D35"/>
            </a:solidFill>
            <a:prstDash val="solid"/>
          </a:ln>
        </p:spPr>
      </p:sp>
      <p:sp>
        <p:nvSpPr>
          <p:cNvPr id="10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CF86E5BE-3A3B-42BC-9219-A3547A1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8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SPRINT 1 RESULT  ·  a secure, demonstrable review workflow ready for stakeholder feedback</a:t>
            </a:r>
          </a:p>
        </p:txBody>
      </p:sp>
    </p:spTree>
    <p:extLst>
      <p:ext uri="{BB962C8B-B14F-4D97-AF65-F5344CB8AC3E}">
        <p14:creationId xmlns:p14="http://schemas.microsoft.com/office/powerpoint/2010/main" val="1502942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2026-08-31T08:31:14.3220000Z</dcterms:created>
  <dcterms:modified xsi:type="dcterms:W3CDTF">2026-08-31T08:31:14.3220000Z</dcterms:modified>
</coreProperties>
</file>